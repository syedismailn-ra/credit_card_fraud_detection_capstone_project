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54736" y="3855720"/>
            <a:ext cx="11280775" cy="1818639"/>
          </a:xfrm>
          <a:custGeom>
            <a:avLst/>
            <a:gdLst/>
            <a:ahLst/>
            <a:cxnLst/>
            <a:rect l="l" t="t" r="r" b="b"/>
            <a:pathLst>
              <a:path w="11280775" h="1818639">
                <a:moveTo>
                  <a:pt x="11098784" y="0"/>
                </a:moveTo>
                <a:lnTo>
                  <a:pt x="181813" y="0"/>
                </a:lnTo>
                <a:lnTo>
                  <a:pt x="133482" y="6495"/>
                </a:lnTo>
                <a:lnTo>
                  <a:pt x="90051" y="24826"/>
                </a:lnTo>
                <a:lnTo>
                  <a:pt x="53254" y="53260"/>
                </a:lnTo>
                <a:lnTo>
                  <a:pt x="24824" y="90066"/>
                </a:lnTo>
                <a:lnTo>
                  <a:pt x="6494" y="133511"/>
                </a:lnTo>
                <a:lnTo>
                  <a:pt x="0" y="181863"/>
                </a:lnTo>
                <a:lnTo>
                  <a:pt x="0" y="1636267"/>
                </a:lnTo>
                <a:lnTo>
                  <a:pt x="6494" y="1684620"/>
                </a:lnTo>
                <a:lnTo>
                  <a:pt x="24824" y="1728065"/>
                </a:lnTo>
                <a:lnTo>
                  <a:pt x="53254" y="1764871"/>
                </a:lnTo>
                <a:lnTo>
                  <a:pt x="90051" y="1793305"/>
                </a:lnTo>
                <a:lnTo>
                  <a:pt x="133482" y="1811636"/>
                </a:lnTo>
                <a:lnTo>
                  <a:pt x="181813" y="1818131"/>
                </a:lnTo>
                <a:lnTo>
                  <a:pt x="11098784" y="1818131"/>
                </a:lnTo>
                <a:lnTo>
                  <a:pt x="11147136" y="1811636"/>
                </a:lnTo>
                <a:lnTo>
                  <a:pt x="11190581" y="1793305"/>
                </a:lnTo>
                <a:lnTo>
                  <a:pt x="11227387" y="1764871"/>
                </a:lnTo>
                <a:lnTo>
                  <a:pt x="11255821" y="1728065"/>
                </a:lnTo>
                <a:lnTo>
                  <a:pt x="11274152" y="1684620"/>
                </a:lnTo>
                <a:lnTo>
                  <a:pt x="11280648" y="1636267"/>
                </a:lnTo>
                <a:lnTo>
                  <a:pt x="11280648" y="181863"/>
                </a:lnTo>
                <a:lnTo>
                  <a:pt x="11274152" y="133511"/>
                </a:lnTo>
                <a:lnTo>
                  <a:pt x="11255821" y="90066"/>
                </a:lnTo>
                <a:lnTo>
                  <a:pt x="11227387" y="53260"/>
                </a:lnTo>
                <a:lnTo>
                  <a:pt x="11190581" y="24826"/>
                </a:lnTo>
                <a:lnTo>
                  <a:pt x="11147136" y="6495"/>
                </a:lnTo>
                <a:lnTo>
                  <a:pt x="11098784" y="0"/>
                </a:lnTo>
                <a:close/>
              </a:path>
            </a:pathLst>
          </a:custGeom>
          <a:solidFill>
            <a:srgbClr val="CAE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355" y="4317"/>
            <a:ext cx="11330940" cy="1583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DFDFD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6157" y="1377441"/>
            <a:ext cx="9592945" cy="334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25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25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201525" cy="5211445"/>
            <a:chOff x="-4762" y="-4762"/>
            <a:chExt cx="12201525" cy="5211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52014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5201920"/>
            </a:xfrm>
            <a:custGeom>
              <a:avLst/>
              <a:gdLst/>
              <a:ahLst/>
              <a:cxnLst/>
              <a:rect l="l" t="t" r="r" b="b"/>
              <a:pathLst>
                <a:path w="12192000" h="5201920">
                  <a:moveTo>
                    <a:pt x="0" y="0"/>
                  </a:moveTo>
                  <a:lnTo>
                    <a:pt x="0" y="4902961"/>
                  </a:lnTo>
                  <a:lnTo>
                    <a:pt x="1996058" y="4902962"/>
                  </a:lnTo>
                  <a:lnTo>
                    <a:pt x="2377059" y="5188712"/>
                  </a:lnTo>
                  <a:lnTo>
                    <a:pt x="2385441" y="5191887"/>
                  </a:lnTo>
                  <a:lnTo>
                    <a:pt x="2398141" y="5196586"/>
                  </a:lnTo>
                  <a:lnTo>
                    <a:pt x="2410841" y="5201412"/>
                  </a:lnTo>
                  <a:lnTo>
                    <a:pt x="2421509" y="5201412"/>
                  </a:lnTo>
                  <a:lnTo>
                    <a:pt x="2434209" y="5201412"/>
                  </a:lnTo>
                  <a:lnTo>
                    <a:pt x="2444750" y="5196586"/>
                  </a:lnTo>
                  <a:lnTo>
                    <a:pt x="2457450" y="5191887"/>
                  </a:lnTo>
                  <a:lnTo>
                    <a:pt x="2465959" y="5188712"/>
                  </a:lnTo>
                  <a:lnTo>
                    <a:pt x="2846959" y="4902962"/>
                  </a:lnTo>
                  <a:lnTo>
                    <a:pt x="12192000" y="4902962"/>
                  </a:lnTo>
                  <a:lnTo>
                    <a:pt x="12192000" y="0"/>
                  </a:lnTo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2" y="1853183"/>
              <a:ext cx="10753344" cy="236982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A885398-CD94-370E-C464-2C0D23658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" r="-1"/>
          <a:stretch>
            <a:fillRect/>
          </a:stretch>
        </p:blipFill>
        <p:spPr>
          <a:xfrm>
            <a:off x="0" y="0"/>
            <a:ext cx="12192000" cy="49004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944" y="5196840"/>
            <a:ext cx="3889248" cy="6400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8898" y="5306059"/>
            <a:ext cx="350392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SUBMITTED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Syed Ismail N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891540"/>
            <a:ext cx="4712208" cy="5449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3139" y="860373"/>
            <a:ext cx="4219575" cy="521652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1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28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30"/>
              </a:spcBef>
              <a:buClr>
                <a:srgbClr val="00C5BA"/>
              </a:buClr>
              <a:buFont typeface="Wingdings"/>
              <a:buChar char=""/>
              <a:tabLst>
                <a:tab pos="755650" algn="l"/>
              </a:tabLst>
            </a:pPr>
            <a:r>
              <a:rPr sz="2600" dirty="0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 statement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25"/>
              </a:spcBef>
              <a:buClr>
                <a:srgbClr val="00C5BA"/>
              </a:buClr>
              <a:buFont typeface="Wingdings"/>
              <a:buChar char=""/>
              <a:tabLst>
                <a:tab pos="755650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endParaRPr sz="260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1225"/>
              </a:spcBef>
              <a:buClr>
                <a:srgbClr val="00C5BA"/>
              </a:buClr>
              <a:buFont typeface="Wingdings"/>
              <a:buChar char=""/>
              <a:tabLst>
                <a:tab pos="755650" algn="l"/>
              </a:tabLst>
            </a:pPr>
            <a:r>
              <a:rPr sz="2600" spc="-10" dirty="0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  <a:endParaRPr sz="2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6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Overview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Insights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0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Reflection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/>
              <a:tabLst>
                <a:tab pos="3549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Recommendation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15180" y="4317"/>
            <a:ext cx="356362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  <a:endParaRPr sz="6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6108" y="1821179"/>
            <a:ext cx="6464808" cy="3636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" y="1933955"/>
            <a:ext cx="12044172" cy="46786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8792" y="2055367"/>
            <a:ext cx="11727180" cy="435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</a:pPr>
            <a:r>
              <a:rPr sz="2400" spc="43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400" spc="-120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inclusive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committed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card,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debit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card.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obtain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goods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services,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make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payment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account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criminal.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recent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times,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drastically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companies are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facing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lot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challenges.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banks,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retaining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profitable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customers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most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important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goal.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Banking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fraud,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however,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poses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threat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goal.</a:t>
            </a:r>
            <a:r>
              <a:rPr lang="en-IN"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Apart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this,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ways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 making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follows:</a:t>
            </a:r>
            <a:endParaRPr sz="24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10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Manipulation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alteration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genuine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Creation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counterfeit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Stolen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lost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endParaRPr sz="2000" dirty="0">
              <a:latin typeface="Times New Roman"/>
              <a:cs typeface="Times New Roman"/>
            </a:endParaRPr>
          </a:p>
          <a:p>
            <a:pPr marL="1154430" indent="-227965">
              <a:lnSpc>
                <a:spcPct val="100000"/>
              </a:lnSpc>
              <a:spcBef>
                <a:spcPts val="1080"/>
              </a:spcBef>
              <a:buClr>
                <a:srgbClr val="00C5BA"/>
              </a:buClr>
              <a:buFont typeface="Wingdings"/>
              <a:buChar char=""/>
              <a:tabLst>
                <a:tab pos="115443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telemarketing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7559" y="213359"/>
            <a:ext cx="5786628" cy="1786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291" y="368808"/>
            <a:ext cx="4942332" cy="117348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2831" rIns="0" bIns="0" rtlCol="0">
            <a:spAutoFit/>
          </a:bodyPr>
          <a:lstStyle/>
          <a:p>
            <a:pPr marL="3656329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Problem</a:t>
            </a:r>
            <a:r>
              <a:rPr sz="4000" spc="-175" dirty="0"/>
              <a:t> </a:t>
            </a:r>
            <a:r>
              <a:rPr sz="4000" spc="-10" dirty="0"/>
              <a:t>statement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1" y="1601724"/>
            <a:ext cx="12031980" cy="42550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3870" y="1650641"/>
            <a:ext cx="11525885" cy="406970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500" spc="45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500" spc="-220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Detecting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5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lang="en-IN" sz="2500" b="1" spc="5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must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banking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industry.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spc="45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500" spc="-225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2500" b="1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put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proactive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monitoring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prevention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mechanisms</a:t>
            </a:r>
            <a:r>
              <a:rPr sz="25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5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place.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500" spc="45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500" spc="-220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sz="25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5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way</a:t>
            </a:r>
            <a:r>
              <a:rPr sz="25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effective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humans.</a:t>
            </a:r>
            <a:endParaRPr sz="2500" dirty="0">
              <a:latin typeface="Times New Roman"/>
              <a:cs typeface="Times New Roman"/>
            </a:endParaRPr>
          </a:p>
          <a:p>
            <a:pPr marL="354965" marR="184150" indent="-342900">
              <a:lnSpc>
                <a:spcPct val="80000"/>
              </a:lnSpc>
              <a:spcBef>
                <a:spcPts val="1200"/>
              </a:spcBef>
            </a:pPr>
            <a:r>
              <a:rPr sz="2500" spc="45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500" spc="-220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5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behind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25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500" b="1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sz="25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5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fraudulent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5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25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sz="25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5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legitimate</a:t>
            </a:r>
            <a:r>
              <a:rPr sz="25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25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helps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institutions-</a:t>
            </a:r>
            <a:endParaRPr sz="18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sz="1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time-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consuming</a:t>
            </a:r>
            <a:r>
              <a:rPr sz="1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reviews.</a:t>
            </a:r>
            <a:endParaRPr sz="1800" dirty="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5650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Costly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chargebacks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fees.</a:t>
            </a:r>
            <a:endParaRPr sz="18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spcBef>
                <a:spcPts val="600"/>
              </a:spcBef>
              <a:buClr>
                <a:srgbClr val="00C5BA"/>
              </a:buClr>
              <a:buFont typeface="Wingdings"/>
              <a:buChar char=""/>
              <a:tabLst>
                <a:tab pos="756285" algn="l"/>
              </a:tabLst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Denial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legitimate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7367" y="4353001"/>
            <a:ext cx="3136265" cy="791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56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2.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Build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machine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learning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model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detect</a:t>
            </a:r>
            <a:endParaRPr sz="1400">
              <a:latin typeface="Times New Roman"/>
              <a:cs typeface="Times New Roman"/>
            </a:endParaRPr>
          </a:p>
          <a:p>
            <a:pPr marL="111760" marR="104775" indent="8890" algn="ctr">
              <a:lnSpc>
                <a:spcPts val="1450"/>
              </a:lnSpc>
              <a:spcBef>
                <a:spcPts val="120"/>
              </a:spcBef>
            </a:pPr>
            <a:r>
              <a:rPr sz="1400" dirty="0">
                <a:latin typeface="Times New Roman"/>
                <a:cs typeface="Times New Roman"/>
              </a:rPr>
              <a:t>fraudulent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transactions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based on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the </a:t>
            </a:r>
            <a:r>
              <a:rPr sz="1400" dirty="0">
                <a:latin typeface="Times New Roman"/>
                <a:cs typeface="Times New Roman"/>
              </a:rPr>
              <a:t>historical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transactional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customers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pool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merchants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2063" y="1333500"/>
            <a:ext cx="11366500" cy="1816735"/>
          </a:xfrm>
          <a:custGeom>
            <a:avLst/>
            <a:gdLst/>
            <a:ahLst/>
            <a:cxnLst/>
            <a:rect l="l" t="t" r="r" b="b"/>
            <a:pathLst>
              <a:path w="11366500" h="1816735">
                <a:moveTo>
                  <a:pt x="11184382" y="0"/>
                </a:moveTo>
                <a:lnTo>
                  <a:pt x="181660" y="0"/>
                </a:lnTo>
                <a:lnTo>
                  <a:pt x="133367" y="6485"/>
                </a:lnTo>
                <a:lnTo>
                  <a:pt x="89972" y="24788"/>
                </a:lnTo>
                <a:lnTo>
                  <a:pt x="53206" y="53181"/>
                </a:lnTo>
                <a:lnTo>
                  <a:pt x="24801" y="89934"/>
                </a:lnTo>
                <a:lnTo>
                  <a:pt x="6488" y="133320"/>
                </a:lnTo>
                <a:lnTo>
                  <a:pt x="0" y="181610"/>
                </a:lnTo>
                <a:lnTo>
                  <a:pt x="0" y="1634998"/>
                </a:lnTo>
                <a:lnTo>
                  <a:pt x="6488" y="1683287"/>
                </a:lnTo>
                <a:lnTo>
                  <a:pt x="24801" y="1726673"/>
                </a:lnTo>
                <a:lnTo>
                  <a:pt x="53206" y="1763426"/>
                </a:lnTo>
                <a:lnTo>
                  <a:pt x="89972" y="1791819"/>
                </a:lnTo>
                <a:lnTo>
                  <a:pt x="133367" y="1810122"/>
                </a:lnTo>
                <a:lnTo>
                  <a:pt x="181660" y="1816608"/>
                </a:lnTo>
                <a:lnTo>
                  <a:pt x="11184382" y="1816608"/>
                </a:lnTo>
                <a:lnTo>
                  <a:pt x="11232671" y="1810122"/>
                </a:lnTo>
                <a:lnTo>
                  <a:pt x="11276057" y="1791819"/>
                </a:lnTo>
                <a:lnTo>
                  <a:pt x="11312810" y="1763426"/>
                </a:lnTo>
                <a:lnTo>
                  <a:pt x="11341203" y="1726673"/>
                </a:lnTo>
                <a:lnTo>
                  <a:pt x="11359506" y="1683287"/>
                </a:lnTo>
                <a:lnTo>
                  <a:pt x="11365991" y="1634998"/>
                </a:lnTo>
                <a:lnTo>
                  <a:pt x="11365991" y="181610"/>
                </a:lnTo>
                <a:lnTo>
                  <a:pt x="11359506" y="133320"/>
                </a:lnTo>
                <a:lnTo>
                  <a:pt x="11341203" y="89934"/>
                </a:lnTo>
                <a:lnTo>
                  <a:pt x="11312810" y="53181"/>
                </a:lnTo>
                <a:lnTo>
                  <a:pt x="11276057" y="24788"/>
                </a:lnTo>
                <a:lnTo>
                  <a:pt x="11232671" y="6485"/>
                </a:lnTo>
                <a:lnTo>
                  <a:pt x="11184382" y="0"/>
                </a:lnTo>
                <a:close/>
              </a:path>
            </a:pathLst>
          </a:custGeom>
          <a:solidFill>
            <a:srgbClr val="CAE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2068" y="1877694"/>
            <a:ext cx="3133090" cy="68961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13030" marR="5080" indent="-100965">
              <a:lnSpc>
                <a:spcPts val="1660"/>
              </a:lnSpc>
              <a:spcBef>
                <a:spcPts val="365"/>
              </a:spcBef>
            </a:pPr>
            <a:r>
              <a:rPr sz="1600" dirty="0">
                <a:latin typeface="Times New Roman"/>
                <a:cs typeface="Times New Roman"/>
              </a:rPr>
              <a:t>1.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Work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analytics</a:t>
            </a:r>
            <a:r>
              <a:rPr sz="1600" spc="-20" dirty="0">
                <a:latin typeface="Times New Roman"/>
                <a:cs typeface="Times New Roman"/>
              </a:rPr>
              <a:t> team </a:t>
            </a:r>
            <a:r>
              <a:rPr sz="1600" dirty="0">
                <a:latin typeface="Times New Roman"/>
                <a:cs typeface="Times New Roman"/>
              </a:rPr>
              <a:t>working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fraud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detection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model</a:t>
            </a:r>
            <a:endParaRPr sz="1600">
              <a:latin typeface="Times New Roman"/>
              <a:cs typeface="Times New Roman"/>
            </a:endParaRPr>
          </a:p>
          <a:p>
            <a:pPr marL="414655">
              <a:lnSpc>
                <a:spcPts val="1639"/>
              </a:lnSpc>
            </a:pP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cost-</a:t>
            </a:r>
            <a:r>
              <a:rPr sz="1600" dirty="0">
                <a:latin typeface="Times New Roman"/>
                <a:cs typeface="Times New Roman"/>
              </a:rPr>
              <a:t>benefit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analysis.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76671" y="1677923"/>
            <a:ext cx="4302760" cy="3542029"/>
            <a:chOff x="5376671" y="1677923"/>
            <a:chExt cx="4302760" cy="3542029"/>
          </a:xfrm>
        </p:grpSpPr>
        <p:sp>
          <p:nvSpPr>
            <p:cNvPr id="6" name="object 6"/>
            <p:cNvSpPr/>
            <p:nvPr/>
          </p:nvSpPr>
          <p:spPr>
            <a:xfrm>
              <a:off x="5384291" y="1685543"/>
              <a:ext cx="4287520" cy="3526790"/>
            </a:xfrm>
            <a:custGeom>
              <a:avLst/>
              <a:gdLst/>
              <a:ahLst/>
              <a:cxnLst/>
              <a:rect l="l" t="t" r="r" b="b"/>
              <a:pathLst>
                <a:path w="4287520" h="3526790">
                  <a:moveTo>
                    <a:pt x="3934333" y="0"/>
                  </a:moveTo>
                  <a:lnTo>
                    <a:pt x="352679" y="0"/>
                  </a:lnTo>
                  <a:lnTo>
                    <a:pt x="304814" y="3218"/>
                  </a:lnTo>
                  <a:lnTo>
                    <a:pt x="258909" y="12595"/>
                  </a:lnTo>
                  <a:lnTo>
                    <a:pt x="215384" y="27709"/>
                  </a:lnTo>
                  <a:lnTo>
                    <a:pt x="174657" y="48142"/>
                  </a:lnTo>
                  <a:lnTo>
                    <a:pt x="137150" y="73473"/>
                  </a:lnTo>
                  <a:lnTo>
                    <a:pt x="103282" y="103282"/>
                  </a:lnTo>
                  <a:lnTo>
                    <a:pt x="73473" y="137150"/>
                  </a:lnTo>
                  <a:lnTo>
                    <a:pt x="48142" y="174657"/>
                  </a:lnTo>
                  <a:lnTo>
                    <a:pt x="27709" y="215384"/>
                  </a:lnTo>
                  <a:lnTo>
                    <a:pt x="12595" y="258909"/>
                  </a:lnTo>
                  <a:lnTo>
                    <a:pt x="3218" y="304814"/>
                  </a:lnTo>
                  <a:lnTo>
                    <a:pt x="0" y="352678"/>
                  </a:lnTo>
                  <a:lnTo>
                    <a:pt x="0" y="3173856"/>
                  </a:lnTo>
                  <a:lnTo>
                    <a:pt x="3218" y="3221721"/>
                  </a:lnTo>
                  <a:lnTo>
                    <a:pt x="12595" y="3267626"/>
                  </a:lnTo>
                  <a:lnTo>
                    <a:pt x="27709" y="3311151"/>
                  </a:lnTo>
                  <a:lnTo>
                    <a:pt x="48142" y="3351878"/>
                  </a:lnTo>
                  <a:lnTo>
                    <a:pt x="73473" y="3389385"/>
                  </a:lnTo>
                  <a:lnTo>
                    <a:pt x="103282" y="3423253"/>
                  </a:lnTo>
                  <a:lnTo>
                    <a:pt x="137150" y="3453062"/>
                  </a:lnTo>
                  <a:lnTo>
                    <a:pt x="174657" y="3478393"/>
                  </a:lnTo>
                  <a:lnTo>
                    <a:pt x="215384" y="3498826"/>
                  </a:lnTo>
                  <a:lnTo>
                    <a:pt x="258909" y="3513940"/>
                  </a:lnTo>
                  <a:lnTo>
                    <a:pt x="304814" y="3523317"/>
                  </a:lnTo>
                  <a:lnTo>
                    <a:pt x="352679" y="3526535"/>
                  </a:lnTo>
                  <a:lnTo>
                    <a:pt x="3934333" y="3526535"/>
                  </a:lnTo>
                  <a:lnTo>
                    <a:pt x="3982197" y="3523317"/>
                  </a:lnTo>
                  <a:lnTo>
                    <a:pt x="4028102" y="3513940"/>
                  </a:lnTo>
                  <a:lnTo>
                    <a:pt x="4071627" y="3498826"/>
                  </a:lnTo>
                  <a:lnTo>
                    <a:pt x="4112354" y="3478393"/>
                  </a:lnTo>
                  <a:lnTo>
                    <a:pt x="4149861" y="3453062"/>
                  </a:lnTo>
                  <a:lnTo>
                    <a:pt x="4183729" y="3423253"/>
                  </a:lnTo>
                  <a:lnTo>
                    <a:pt x="4213538" y="3389385"/>
                  </a:lnTo>
                  <a:lnTo>
                    <a:pt x="4238869" y="3351878"/>
                  </a:lnTo>
                  <a:lnTo>
                    <a:pt x="4259302" y="3311151"/>
                  </a:lnTo>
                  <a:lnTo>
                    <a:pt x="4274416" y="3267626"/>
                  </a:lnTo>
                  <a:lnTo>
                    <a:pt x="4283793" y="3221721"/>
                  </a:lnTo>
                  <a:lnTo>
                    <a:pt x="4287012" y="3173856"/>
                  </a:lnTo>
                  <a:lnTo>
                    <a:pt x="4287012" y="352678"/>
                  </a:lnTo>
                  <a:lnTo>
                    <a:pt x="4283793" y="304814"/>
                  </a:lnTo>
                  <a:lnTo>
                    <a:pt x="4274416" y="258909"/>
                  </a:lnTo>
                  <a:lnTo>
                    <a:pt x="4259302" y="215384"/>
                  </a:lnTo>
                  <a:lnTo>
                    <a:pt x="4238869" y="174657"/>
                  </a:lnTo>
                  <a:lnTo>
                    <a:pt x="4213538" y="137150"/>
                  </a:lnTo>
                  <a:lnTo>
                    <a:pt x="4183729" y="103282"/>
                  </a:lnTo>
                  <a:lnTo>
                    <a:pt x="4149861" y="73473"/>
                  </a:lnTo>
                  <a:lnTo>
                    <a:pt x="4112354" y="48142"/>
                  </a:lnTo>
                  <a:lnTo>
                    <a:pt x="4071627" y="27709"/>
                  </a:lnTo>
                  <a:lnTo>
                    <a:pt x="4028102" y="12595"/>
                  </a:lnTo>
                  <a:lnTo>
                    <a:pt x="3982197" y="3218"/>
                  </a:lnTo>
                  <a:lnTo>
                    <a:pt x="3934333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84291" y="1685543"/>
              <a:ext cx="4287520" cy="3526790"/>
            </a:xfrm>
            <a:custGeom>
              <a:avLst/>
              <a:gdLst/>
              <a:ahLst/>
              <a:cxnLst/>
              <a:rect l="l" t="t" r="r" b="b"/>
              <a:pathLst>
                <a:path w="4287520" h="3526790">
                  <a:moveTo>
                    <a:pt x="0" y="352678"/>
                  </a:moveTo>
                  <a:lnTo>
                    <a:pt x="3218" y="304814"/>
                  </a:lnTo>
                  <a:lnTo>
                    <a:pt x="12595" y="258909"/>
                  </a:lnTo>
                  <a:lnTo>
                    <a:pt x="27709" y="215384"/>
                  </a:lnTo>
                  <a:lnTo>
                    <a:pt x="48142" y="174657"/>
                  </a:lnTo>
                  <a:lnTo>
                    <a:pt x="73473" y="137150"/>
                  </a:lnTo>
                  <a:lnTo>
                    <a:pt x="103282" y="103282"/>
                  </a:lnTo>
                  <a:lnTo>
                    <a:pt x="137150" y="73473"/>
                  </a:lnTo>
                  <a:lnTo>
                    <a:pt x="174657" y="48142"/>
                  </a:lnTo>
                  <a:lnTo>
                    <a:pt x="215384" y="27709"/>
                  </a:lnTo>
                  <a:lnTo>
                    <a:pt x="258909" y="12595"/>
                  </a:lnTo>
                  <a:lnTo>
                    <a:pt x="304814" y="3218"/>
                  </a:lnTo>
                  <a:lnTo>
                    <a:pt x="352679" y="0"/>
                  </a:lnTo>
                  <a:lnTo>
                    <a:pt x="3934333" y="0"/>
                  </a:lnTo>
                  <a:lnTo>
                    <a:pt x="3982197" y="3218"/>
                  </a:lnTo>
                  <a:lnTo>
                    <a:pt x="4028102" y="12595"/>
                  </a:lnTo>
                  <a:lnTo>
                    <a:pt x="4071627" y="27709"/>
                  </a:lnTo>
                  <a:lnTo>
                    <a:pt x="4112354" y="48142"/>
                  </a:lnTo>
                  <a:lnTo>
                    <a:pt x="4149861" y="73473"/>
                  </a:lnTo>
                  <a:lnTo>
                    <a:pt x="4183729" y="103282"/>
                  </a:lnTo>
                  <a:lnTo>
                    <a:pt x="4213538" y="137150"/>
                  </a:lnTo>
                  <a:lnTo>
                    <a:pt x="4238869" y="174657"/>
                  </a:lnTo>
                  <a:lnTo>
                    <a:pt x="4259302" y="215384"/>
                  </a:lnTo>
                  <a:lnTo>
                    <a:pt x="4274416" y="258909"/>
                  </a:lnTo>
                  <a:lnTo>
                    <a:pt x="4283793" y="304814"/>
                  </a:lnTo>
                  <a:lnTo>
                    <a:pt x="4287012" y="352678"/>
                  </a:lnTo>
                  <a:lnTo>
                    <a:pt x="4287012" y="3173856"/>
                  </a:lnTo>
                  <a:lnTo>
                    <a:pt x="4283793" y="3221721"/>
                  </a:lnTo>
                  <a:lnTo>
                    <a:pt x="4274416" y="3267626"/>
                  </a:lnTo>
                  <a:lnTo>
                    <a:pt x="4259302" y="3311151"/>
                  </a:lnTo>
                  <a:lnTo>
                    <a:pt x="4238869" y="3351878"/>
                  </a:lnTo>
                  <a:lnTo>
                    <a:pt x="4213538" y="3389385"/>
                  </a:lnTo>
                  <a:lnTo>
                    <a:pt x="4183729" y="3423253"/>
                  </a:lnTo>
                  <a:lnTo>
                    <a:pt x="4149861" y="3453062"/>
                  </a:lnTo>
                  <a:lnTo>
                    <a:pt x="4112354" y="3478393"/>
                  </a:lnTo>
                  <a:lnTo>
                    <a:pt x="4071627" y="3498826"/>
                  </a:lnTo>
                  <a:lnTo>
                    <a:pt x="4028102" y="3513940"/>
                  </a:lnTo>
                  <a:lnTo>
                    <a:pt x="3982197" y="3523317"/>
                  </a:lnTo>
                  <a:lnTo>
                    <a:pt x="3934333" y="3526535"/>
                  </a:lnTo>
                  <a:lnTo>
                    <a:pt x="352679" y="3526535"/>
                  </a:lnTo>
                  <a:lnTo>
                    <a:pt x="304814" y="3523317"/>
                  </a:lnTo>
                  <a:lnTo>
                    <a:pt x="258909" y="3513940"/>
                  </a:lnTo>
                  <a:lnTo>
                    <a:pt x="215384" y="3498826"/>
                  </a:lnTo>
                  <a:lnTo>
                    <a:pt x="174657" y="3478393"/>
                  </a:lnTo>
                  <a:lnTo>
                    <a:pt x="137150" y="3453062"/>
                  </a:lnTo>
                  <a:lnTo>
                    <a:pt x="103282" y="3423253"/>
                  </a:lnTo>
                  <a:lnTo>
                    <a:pt x="73473" y="3389385"/>
                  </a:lnTo>
                  <a:lnTo>
                    <a:pt x="48142" y="3351878"/>
                  </a:lnTo>
                  <a:lnTo>
                    <a:pt x="27709" y="3311151"/>
                  </a:lnTo>
                  <a:lnTo>
                    <a:pt x="12595" y="3267626"/>
                  </a:lnTo>
                  <a:lnTo>
                    <a:pt x="3218" y="3221721"/>
                  </a:lnTo>
                  <a:lnTo>
                    <a:pt x="0" y="3173856"/>
                  </a:lnTo>
                  <a:lnTo>
                    <a:pt x="0" y="352678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56579" y="2310511"/>
            <a:ext cx="3742054" cy="218567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 marR="5080" algn="ctr">
              <a:lnSpc>
                <a:spcPct val="86700"/>
              </a:lnSpc>
              <a:spcBef>
                <a:spcPts val="710"/>
              </a:spcBef>
            </a:pPr>
            <a:r>
              <a:rPr sz="3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Objective</a:t>
            </a:r>
            <a:r>
              <a:rPr sz="3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80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3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Analyze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business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recommend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optimal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ways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 bank can adopt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mitigate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5464" rIns="0" bIns="0" rtlCol="0">
            <a:spAutoFit/>
          </a:bodyPr>
          <a:lstStyle/>
          <a:p>
            <a:pPr marL="768985">
              <a:lnSpc>
                <a:spcPct val="100000"/>
              </a:lnSpc>
              <a:spcBef>
                <a:spcPts val="95"/>
              </a:spcBef>
            </a:pPr>
            <a:r>
              <a:rPr sz="4000" b="0" u="sng" spc="-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GOALS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1525" cy="2194560"/>
            <a:chOff x="-4572" y="-4572"/>
            <a:chExt cx="12201525" cy="2194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0363" y="289559"/>
              <a:ext cx="7891272" cy="154685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602483" y="513715"/>
            <a:ext cx="69869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OVERVIEW</a:t>
            </a:r>
            <a:r>
              <a:rPr sz="5400" spc="-240" dirty="0"/>
              <a:t> </a:t>
            </a:r>
            <a:r>
              <a:rPr sz="5400" dirty="0"/>
              <a:t>OF</a:t>
            </a:r>
            <a:r>
              <a:rPr sz="5400" spc="-330" dirty="0"/>
              <a:t> </a:t>
            </a:r>
            <a:r>
              <a:rPr sz="5400" spc="-155" dirty="0"/>
              <a:t>DATA</a:t>
            </a:r>
            <a:endParaRPr sz="54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9891" y="2944367"/>
            <a:ext cx="5396484" cy="22951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97737" y="3082289"/>
            <a:ext cx="4820920" cy="1893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C5BA"/>
              </a:buClr>
              <a:buAutoNum type="arabicPeriod"/>
              <a:tabLst>
                <a:tab pos="469265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Fraud_data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9651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(0.521%)</a:t>
            </a:r>
            <a:endParaRPr sz="2800">
              <a:latin typeface="Times New Roman"/>
              <a:cs typeface="Times New Roman"/>
            </a:endParaRPr>
          </a:p>
          <a:p>
            <a:pPr marL="468630" marR="122555" indent="-456565">
              <a:lnSpc>
                <a:spcPct val="100000"/>
              </a:lnSpc>
              <a:spcBef>
                <a:spcPts val="1275"/>
              </a:spcBef>
              <a:buClr>
                <a:srgbClr val="00C5BA"/>
              </a:buClr>
              <a:buAutoNum type="arabicPeriod" startAt="2"/>
              <a:tabLst>
                <a:tab pos="469900" algn="l"/>
              </a:tabLst>
            </a:pP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Non-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Fraud_data=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1842743 	transactions(99.48% </a:t>
            </a:r>
            <a:r>
              <a:rPr sz="2800" spc="-5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11240" y="2540507"/>
            <a:ext cx="5992495" cy="3371215"/>
            <a:chOff x="6111240" y="2540507"/>
            <a:chExt cx="5992495" cy="337121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1240" y="2540507"/>
              <a:ext cx="5992368" cy="33710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64580" y="2593847"/>
              <a:ext cx="5885688" cy="32644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201525" cy="2277110"/>
            <a:chOff x="-4762" y="-4762"/>
            <a:chExt cx="12201525" cy="22771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352" y="656844"/>
              <a:ext cx="10494264" cy="161543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26311" y="819658"/>
            <a:ext cx="97497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8410" marR="5080" indent="-12363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Visual</a:t>
            </a:r>
            <a:r>
              <a:rPr sz="3600" spc="-80" dirty="0"/>
              <a:t> </a:t>
            </a:r>
            <a:r>
              <a:rPr sz="3600" spc="-20" dirty="0"/>
              <a:t>representation</a:t>
            </a:r>
            <a:r>
              <a:rPr sz="3600" spc="-100" dirty="0"/>
              <a:t> </a:t>
            </a:r>
            <a:r>
              <a:rPr sz="3600" dirty="0"/>
              <a:t>of</a:t>
            </a:r>
            <a:r>
              <a:rPr sz="3600" spc="-75" dirty="0"/>
              <a:t> </a:t>
            </a:r>
            <a:r>
              <a:rPr sz="3600" dirty="0"/>
              <a:t>frequency</a:t>
            </a:r>
            <a:r>
              <a:rPr sz="3600" spc="-80" dirty="0"/>
              <a:t> </a:t>
            </a:r>
            <a:r>
              <a:rPr sz="3600" dirty="0"/>
              <a:t>of</a:t>
            </a:r>
            <a:r>
              <a:rPr sz="3600" spc="-75" dirty="0"/>
              <a:t> </a:t>
            </a:r>
            <a:r>
              <a:rPr sz="3600" spc="-10" dirty="0"/>
              <a:t>transactions </a:t>
            </a:r>
            <a:r>
              <a:rPr sz="3600" dirty="0"/>
              <a:t>and</a:t>
            </a:r>
            <a:r>
              <a:rPr sz="3600" spc="-60" dirty="0"/>
              <a:t> </a:t>
            </a:r>
            <a:r>
              <a:rPr sz="3600" dirty="0"/>
              <a:t>fraud_transactions</a:t>
            </a:r>
            <a:r>
              <a:rPr sz="3600" spc="-65" dirty="0"/>
              <a:t> </a:t>
            </a:r>
            <a:r>
              <a:rPr sz="3600" dirty="0"/>
              <a:t>monthly</a:t>
            </a:r>
            <a:r>
              <a:rPr sz="3600" spc="-45" dirty="0"/>
              <a:t> </a:t>
            </a:r>
            <a:r>
              <a:rPr sz="3600" spc="-20" dirty="0"/>
              <a:t>wise</a:t>
            </a:r>
            <a:endParaRPr sz="36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6747" y="2179320"/>
            <a:ext cx="4069079" cy="6400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940677" y="2287016"/>
            <a:ext cx="36823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2940" y="2298192"/>
            <a:ext cx="11305540" cy="3657600"/>
            <a:chOff x="662940" y="2298192"/>
            <a:chExt cx="11305540" cy="36576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3243" y="2702052"/>
              <a:ext cx="5824728" cy="32537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6584" y="2755392"/>
              <a:ext cx="5718048" cy="31470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2940" y="2298192"/>
              <a:ext cx="4730496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55675" y="2406853"/>
            <a:ext cx="4343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No.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6888" y="2702051"/>
            <a:ext cx="5712460" cy="3253740"/>
            <a:chOff x="246888" y="2702051"/>
            <a:chExt cx="5712460" cy="325374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888" y="2702051"/>
              <a:ext cx="5711952" cy="32537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228" y="2755391"/>
              <a:ext cx="5605272" cy="31470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68858" y="6139992"/>
            <a:ext cx="10577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eve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specifically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dec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later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may,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august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october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1525" cy="2194560"/>
            <a:chOff x="-4572" y="-4572"/>
            <a:chExt cx="12201525" cy="2194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3843" y="252984"/>
              <a:ext cx="5166359" cy="18668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3951" rIns="0" bIns="0" rtlCol="0">
            <a:spAutoFit/>
          </a:bodyPr>
          <a:lstStyle/>
          <a:p>
            <a:pPr marL="369951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INSIGHTS</a:t>
            </a:r>
            <a:endParaRPr sz="66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468" y="3089148"/>
            <a:ext cx="10544556" cy="199491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97737" y="3211829"/>
            <a:ext cx="10040620" cy="163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6850" indent="-342900">
              <a:lnSpc>
                <a:spcPct val="100000"/>
              </a:lnSpc>
              <a:spcBef>
                <a:spcPts val="100"/>
              </a:spcBef>
            </a:pPr>
            <a:r>
              <a:rPr sz="2400" spc="43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400" spc="-114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Visual</a:t>
            </a:r>
            <a:r>
              <a:rPr sz="2400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understanding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based on fraud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data(1)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 non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14" dirty="0">
                <a:solidFill>
                  <a:srgbClr val="FFFFFF"/>
                </a:solidFill>
                <a:latin typeface="Times New Roman"/>
                <a:cs typeface="Times New Roman"/>
              </a:rPr>
              <a:t>fraud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data(0)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400"/>
              </a:lnSpc>
              <a:spcBef>
                <a:spcPts val="1165"/>
              </a:spcBef>
            </a:pPr>
            <a:r>
              <a:rPr sz="2400" spc="430" dirty="0">
                <a:solidFill>
                  <a:srgbClr val="00C5BA"/>
                </a:solidFill>
                <a:latin typeface="Arial MT"/>
                <a:cs typeface="Arial MT"/>
              </a:rPr>
              <a:t>🞅</a:t>
            </a:r>
            <a:r>
              <a:rPr sz="2400" spc="-125" dirty="0">
                <a:solidFill>
                  <a:srgbClr val="00C5BA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Plots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make you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happening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cards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6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issued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customers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bank.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776" y="0"/>
            <a:ext cx="11448415" cy="894715"/>
            <a:chOff x="112776" y="0"/>
            <a:chExt cx="11448415" cy="894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76" y="135636"/>
              <a:ext cx="11448288" cy="5638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" y="0"/>
              <a:ext cx="10210800" cy="8945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0688" y="193547"/>
              <a:ext cx="11332845" cy="448309"/>
            </a:xfrm>
            <a:custGeom>
              <a:avLst/>
              <a:gdLst/>
              <a:ahLst/>
              <a:cxnLst/>
              <a:rect l="l" t="t" r="r" b="b"/>
              <a:pathLst>
                <a:path w="11332845" h="448309">
                  <a:moveTo>
                    <a:pt x="0" y="448055"/>
                  </a:moveTo>
                  <a:lnTo>
                    <a:pt x="11332464" y="448055"/>
                  </a:lnTo>
                  <a:lnTo>
                    <a:pt x="11332464" y="0"/>
                  </a:lnTo>
                  <a:lnTo>
                    <a:pt x="0" y="0"/>
                  </a:lnTo>
                  <a:lnTo>
                    <a:pt x="0" y="44805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754" rIns="0" bIns="0" rtlCol="0">
            <a:spAutoFit/>
          </a:bodyPr>
          <a:lstStyle/>
          <a:p>
            <a:pPr marL="846455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1.Analysis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732" y="5067680"/>
            <a:ext cx="60642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3rd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5th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where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less.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6615" y="909827"/>
            <a:ext cx="11608435" cy="3992879"/>
            <a:chOff x="356615" y="909827"/>
            <a:chExt cx="11608435" cy="399287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615" y="909827"/>
              <a:ext cx="5739384" cy="39928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74307" y="909828"/>
              <a:ext cx="5690616" cy="39928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703568" y="4988433"/>
            <a:ext cx="501586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Nearly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355" y="5548071"/>
            <a:ext cx="5799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Sunday,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Saturday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Monday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compared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5" y="1229867"/>
            <a:ext cx="5861304" cy="4154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911" y="1229867"/>
            <a:ext cx="5362956" cy="41544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25793" y="5624271"/>
            <a:ext cx="50133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Nearly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were done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Weekday.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009" y="175260"/>
            <a:ext cx="11447145" cy="960119"/>
            <a:chOff x="64009" y="175260"/>
            <a:chExt cx="11447145" cy="96011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9" y="376428"/>
              <a:ext cx="11446764" cy="563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1100" y="175260"/>
              <a:ext cx="9212580" cy="9601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1919" y="434339"/>
              <a:ext cx="11330940" cy="448309"/>
            </a:xfrm>
            <a:custGeom>
              <a:avLst/>
              <a:gdLst/>
              <a:ahLst/>
              <a:cxnLst/>
              <a:rect l="l" t="t" r="r" b="b"/>
              <a:pathLst>
                <a:path w="11330940" h="448309">
                  <a:moveTo>
                    <a:pt x="0" y="448055"/>
                  </a:moveTo>
                  <a:lnTo>
                    <a:pt x="11330940" y="448055"/>
                  </a:lnTo>
                  <a:lnTo>
                    <a:pt x="11330940" y="0"/>
                  </a:lnTo>
                  <a:lnTo>
                    <a:pt x="0" y="0"/>
                  </a:lnTo>
                  <a:lnTo>
                    <a:pt x="0" y="44805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466214" y="322910"/>
            <a:ext cx="86410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2.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Weekdays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70446" y="5475223"/>
            <a:ext cx="5574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same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through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month.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7160" y="68580"/>
            <a:ext cx="11917680" cy="5105400"/>
            <a:chOff x="137160" y="68580"/>
            <a:chExt cx="11917680" cy="510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5768" y="890016"/>
              <a:ext cx="5529072" cy="42839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696" y="1005840"/>
              <a:ext cx="6056376" cy="41681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268224"/>
              <a:ext cx="11448288" cy="5654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5732" y="68580"/>
              <a:ext cx="8391144" cy="960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5072" y="326136"/>
              <a:ext cx="11332845" cy="449580"/>
            </a:xfrm>
            <a:custGeom>
              <a:avLst/>
              <a:gdLst/>
              <a:ahLst/>
              <a:cxnLst/>
              <a:rect l="l" t="t" r="r" b="b"/>
              <a:pathLst>
                <a:path w="11332845" h="449580">
                  <a:moveTo>
                    <a:pt x="0" y="449580"/>
                  </a:moveTo>
                  <a:lnTo>
                    <a:pt x="11332464" y="449580"/>
                  </a:lnTo>
                  <a:lnTo>
                    <a:pt x="11332464" y="0"/>
                  </a:lnTo>
                  <a:lnTo>
                    <a:pt x="0" y="0"/>
                  </a:lnTo>
                  <a:lnTo>
                    <a:pt x="0" y="44958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6367" y="5431637"/>
            <a:ext cx="5180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20th,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12th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11th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month.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646" rIns="0" bIns="0" rtlCol="0">
            <a:spAutoFit/>
          </a:bodyPr>
          <a:lstStyle/>
          <a:p>
            <a:pPr marL="1781175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3200" b="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Days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355" y="5480100"/>
            <a:ext cx="5130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odd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i.e.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Hr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4592" y="117347"/>
            <a:ext cx="11595100" cy="5196840"/>
            <a:chOff x="164592" y="117347"/>
            <a:chExt cx="11595100" cy="5196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987" y="1118615"/>
              <a:ext cx="5932932" cy="4195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2615" y="1118615"/>
              <a:ext cx="5306568" cy="41955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592" y="318515"/>
              <a:ext cx="11446764" cy="5638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2392" y="117347"/>
              <a:ext cx="8549640" cy="960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2503" y="376427"/>
              <a:ext cx="11330940" cy="448309"/>
            </a:xfrm>
            <a:custGeom>
              <a:avLst/>
              <a:gdLst/>
              <a:ahLst/>
              <a:cxnLst/>
              <a:rect l="l" t="t" r="r" b="b"/>
              <a:pathLst>
                <a:path w="11330940" h="448309">
                  <a:moveTo>
                    <a:pt x="0" y="448056"/>
                  </a:moveTo>
                  <a:lnTo>
                    <a:pt x="11330940" y="448056"/>
                  </a:lnTo>
                  <a:lnTo>
                    <a:pt x="11330940" y="0"/>
                  </a:lnTo>
                  <a:lnTo>
                    <a:pt x="0" y="0"/>
                  </a:lnTo>
                  <a:lnTo>
                    <a:pt x="0" y="44805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25590" y="5480100"/>
            <a:ext cx="4713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mostly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23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Hr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01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4.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776" y="118871"/>
            <a:ext cx="11741150" cy="4627245"/>
            <a:chOff x="112776" y="118871"/>
            <a:chExt cx="11741150" cy="46272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948" y="990599"/>
              <a:ext cx="5839967" cy="37551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" y="1063752"/>
              <a:ext cx="5693664" cy="3608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9194" y="1053846"/>
              <a:ext cx="5713730" cy="3629025"/>
            </a:xfrm>
            <a:custGeom>
              <a:avLst/>
              <a:gdLst/>
              <a:ahLst/>
              <a:cxnLst/>
              <a:rect l="l" t="t" r="r" b="b"/>
              <a:pathLst>
                <a:path w="5713730" h="3629025">
                  <a:moveTo>
                    <a:pt x="0" y="3628644"/>
                  </a:moveTo>
                  <a:lnTo>
                    <a:pt x="5713476" y="3628644"/>
                  </a:lnTo>
                  <a:lnTo>
                    <a:pt x="5713476" y="0"/>
                  </a:lnTo>
                  <a:lnTo>
                    <a:pt x="0" y="0"/>
                  </a:lnTo>
                  <a:lnTo>
                    <a:pt x="0" y="3628644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8440" y="1063752"/>
              <a:ext cx="5285232" cy="3653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776" y="320039"/>
              <a:ext cx="11448288" cy="5638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067" y="118871"/>
              <a:ext cx="10585704" cy="9601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0688" y="377951"/>
              <a:ext cx="11332845" cy="448309"/>
            </a:xfrm>
            <a:custGeom>
              <a:avLst/>
              <a:gdLst/>
              <a:ahLst/>
              <a:cxnLst/>
              <a:rect l="l" t="t" r="r" b="b"/>
              <a:pathLst>
                <a:path w="11332845" h="448309">
                  <a:moveTo>
                    <a:pt x="0" y="448056"/>
                  </a:moveTo>
                  <a:lnTo>
                    <a:pt x="11332464" y="448056"/>
                  </a:lnTo>
                  <a:lnTo>
                    <a:pt x="11332464" y="0"/>
                  </a:lnTo>
                  <a:lnTo>
                    <a:pt x="0" y="0"/>
                  </a:lnTo>
                  <a:lnTo>
                    <a:pt x="0" y="44805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7535" y="4968620"/>
            <a:ext cx="544004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50-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4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30-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40,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20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06310" y="4974082"/>
            <a:ext cx="47136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belongs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"0-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20",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"60-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70"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"70-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80"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age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bin.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827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5.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 different</a:t>
            </a:r>
            <a:r>
              <a:rPr sz="3200" b="0" spc="-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Age_bins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776" y="0"/>
            <a:ext cx="11896725" cy="4592320"/>
            <a:chOff x="112776" y="0"/>
            <a:chExt cx="11896725" cy="4592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0696" y="786383"/>
              <a:ext cx="5678424" cy="38054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4035" y="839724"/>
              <a:ext cx="5571744" cy="36987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028" y="839724"/>
              <a:ext cx="5852160" cy="3698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776" y="135636"/>
              <a:ext cx="11448288" cy="5638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484" y="0"/>
              <a:ext cx="10788396" cy="8945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0688" y="193547"/>
              <a:ext cx="11332845" cy="448309"/>
            </a:xfrm>
            <a:custGeom>
              <a:avLst/>
              <a:gdLst/>
              <a:ahLst/>
              <a:cxnLst/>
              <a:rect l="l" t="t" r="r" b="b"/>
              <a:pathLst>
                <a:path w="11332845" h="448309">
                  <a:moveTo>
                    <a:pt x="0" y="448055"/>
                  </a:moveTo>
                  <a:lnTo>
                    <a:pt x="11332464" y="448055"/>
                  </a:lnTo>
                  <a:lnTo>
                    <a:pt x="11332464" y="0"/>
                  </a:lnTo>
                  <a:lnTo>
                    <a:pt x="0" y="0"/>
                  </a:lnTo>
                  <a:lnTo>
                    <a:pt x="0" y="448055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2735" y="4911090"/>
            <a:ext cx="596519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grocery_pos,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shopping_net,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misc_net,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shopping_pos,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gas_transport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1784" y="4911090"/>
            <a:ext cx="483362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were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shopping_net,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shopping_pos,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misc_net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category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entertainment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754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6.</a:t>
            </a:r>
            <a:r>
              <a:rPr sz="3200" b="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3445" y="393191"/>
            <a:ext cx="11649710" cy="5140960"/>
            <a:chOff x="123445" y="393191"/>
            <a:chExt cx="11649710" cy="5140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0840" y="1427988"/>
              <a:ext cx="5052059" cy="4105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4179" y="1481327"/>
              <a:ext cx="4945380" cy="39989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445" y="393191"/>
              <a:ext cx="11446764" cy="8153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1644" y="443483"/>
              <a:ext cx="9770364" cy="9601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3039" y="5619089"/>
            <a:ext cx="639572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5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4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Engineer,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officer,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others,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scientist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1355" y="1481327"/>
            <a:ext cx="6330696" cy="39883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81545" y="5611469"/>
            <a:ext cx="52120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were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under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job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Researcher, Assistant.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81355" y="451104"/>
            <a:ext cx="11330940" cy="6997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1078230">
              <a:lnSpc>
                <a:spcPct val="100000"/>
              </a:lnSpc>
              <a:spcBef>
                <a:spcPts val="1200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7.</a:t>
            </a:r>
            <a:r>
              <a:rPr sz="3200" b="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3200" b="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Jobs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97980" y="1758695"/>
            <a:ext cx="5032375" cy="3776979"/>
            <a:chOff x="6697980" y="1758695"/>
            <a:chExt cx="5032375" cy="37769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97980" y="1758695"/>
              <a:ext cx="5032248" cy="37764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1320" y="1812035"/>
              <a:ext cx="4925568" cy="366979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2924" y="5691022"/>
            <a:ext cx="5251450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56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Count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Frauds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South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Midwest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region.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472" y="1812035"/>
            <a:ext cx="6009132" cy="36697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25590" y="5728817"/>
            <a:ext cx="4963795" cy="7943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 in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all 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regions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Northeast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region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slightly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others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 transactions.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388" y="155447"/>
            <a:ext cx="11448415" cy="1447800"/>
            <a:chOff x="56388" y="155447"/>
            <a:chExt cx="11448415" cy="144780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8" y="630935"/>
              <a:ext cx="11448288" cy="7772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6068" y="155447"/>
              <a:ext cx="9044940" cy="1447800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591436" y="302463"/>
            <a:ext cx="8376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8.</a:t>
            </a:r>
            <a:r>
              <a:rPr sz="3200" b="0" spc="-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3200" b="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3200" b="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3200" b="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0" spc="-1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300" y="688848"/>
            <a:ext cx="11332845" cy="6616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State_bin(Regionwise)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1525" cy="2194560"/>
            <a:chOff x="-4572" y="-4572"/>
            <a:chExt cx="12201525" cy="2194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5492" y="289559"/>
              <a:ext cx="5254752" cy="154685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097" rIns="0" bIns="0" rtlCol="0">
            <a:spAutoFit/>
          </a:bodyPr>
          <a:lstStyle/>
          <a:p>
            <a:pPr marL="3838575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MODELIING</a:t>
            </a:r>
            <a:endParaRPr sz="5400"/>
          </a:p>
        </p:txBody>
      </p:sp>
      <p:grpSp>
        <p:nvGrpSpPr>
          <p:cNvPr id="7" name="object 7"/>
          <p:cNvGrpSpPr/>
          <p:nvPr/>
        </p:nvGrpSpPr>
        <p:grpSpPr>
          <a:xfrm>
            <a:off x="419100" y="3112007"/>
            <a:ext cx="2165985" cy="1304925"/>
            <a:chOff x="419100" y="3112007"/>
            <a:chExt cx="2165985" cy="1304925"/>
          </a:xfrm>
        </p:grpSpPr>
        <p:sp>
          <p:nvSpPr>
            <p:cNvPr id="8" name="object 8"/>
            <p:cNvSpPr/>
            <p:nvPr/>
          </p:nvSpPr>
          <p:spPr>
            <a:xfrm>
              <a:off x="426720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2021459" y="0"/>
                  </a:moveTo>
                  <a:lnTo>
                    <a:pt x="128930" y="0"/>
                  </a:lnTo>
                  <a:lnTo>
                    <a:pt x="78743" y="10140"/>
                  </a:lnTo>
                  <a:lnTo>
                    <a:pt x="37761" y="37782"/>
                  </a:lnTo>
                  <a:lnTo>
                    <a:pt x="10131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31" y="1210544"/>
                  </a:lnTo>
                  <a:lnTo>
                    <a:pt x="37761" y="1251521"/>
                  </a:lnTo>
                  <a:lnTo>
                    <a:pt x="78743" y="1279163"/>
                  </a:lnTo>
                  <a:lnTo>
                    <a:pt x="128930" y="1289304"/>
                  </a:lnTo>
                  <a:lnTo>
                    <a:pt x="2021459" y="1289304"/>
                  </a:lnTo>
                  <a:lnTo>
                    <a:pt x="2071604" y="1279163"/>
                  </a:lnTo>
                  <a:lnTo>
                    <a:pt x="2112581" y="1251521"/>
                  </a:lnTo>
                  <a:lnTo>
                    <a:pt x="2140223" y="1210544"/>
                  </a:lnTo>
                  <a:lnTo>
                    <a:pt x="2150364" y="1160399"/>
                  </a:lnTo>
                  <a:lnTo>
                    <a:pt x="2150364" y="128905"/>
                  </a:lnTo>
                  <a:lnTo>
                    <a:pt x="2140223" y="78759"/>
                  </a:lnTo>
                  <a:lnTo>
                    <a:pt x="2112581" y="37782"/>
                  </a:lnTo>
                  <a:lnTo>
                    <a:pt x="2071604" y="10140"/>
                  </a:lnTo>
                  <a:lnTo>
                    <a:pt x="2021459" y="0"/>
                  </a:lnTo>
                  <a:close/>
                </a:path>
              </a:pathLst>
            </a:custGeom>
            <a:solidFill>
              <a:srgbClr val="6EEB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6720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0" y="128905"/>
                  </a:moveTo>
                  <a:lnTo>
                    <a:pt x="10131" y="78759"/>
                  </a:lnTo>
                  <a:lnTo>
                    <a:pt x="37761" y="37782"/>
                  </a:lnTo>
                  <a:lnTo>
                    <a:pt x="78743" y="10140"/>
                  </a:lnTo>
                  <a:lnTo>
                    <a:pt x="128930" y="0"/>
                  </a:lnTo>
                  <a:lnTo>
                    <a:pt x="2021459" y="0"/>
                  </a:lnTo>
                  <a:lnTo>
                    <a:pt x="2071604" y="10140"/>
                  </a:lnTo>
                  <a:lnTo>
                    <a:pt x="2112581" y="37782"/>
                  </a:lnTo>
                  <a:lnTo>
                    <a:pt x="2140223" y="78759"/>
                  </a:lnTo>
                  <a:lnTo>
                    <a:pt x="2150364" y="128905"/>
                  </a:lnTo>
                  <a:lnTo>
                    <a:pt x="2150364" y="1160399"/>
                  </a:lnTo>
                  <a:lnTo>
                    <a:pt x="2140223" y="1210544"/>
                  </a:lnTo>
                  <a:lnTo>
                    <a:pt x="2112581" y="1251521"/>
                  </a:lnTo>
                  <a:lnTo>
                    <a:pt x="2071604" y="1279163"/>
                  </a:lnTo>
                  <a:lnTo>
                    <a:pt x="2021459" y="1289304"/>
                  </a:lnTo>
                  <a:lnTo>
                    <a:pt x="128930" y="1289304"/>
                  </a:lnTo>
                  <a:lnTo>
                    <a:pt x="78743" y="1279163"/>
                  </a:lnTo>
                  <a:lnTo>
                    <a:pt x="37761" y="1251521"/>
                  </a:lnTo>
                  <a:lnTo>
                    <a:pt x="10131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8015" y="3536060"/>
            <a:ext cx="1946910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803275" marR="5080" indent="-791210">
              <a:lnSpc>
                <a:spcPts val="1440"/>
              </a:lnSpc>
              <a:spcBef>
                <a:spcPts val="350"/>
              </a:spcBef>
            </a:pPr>
            <a:r>
              <a:rPr sz="1400" b="1" dirty="0">
                <a:latin typeface="Times New Roman"/>
                <a:cs typeface="Times New Roman"/>
              </a:rPr>
              <a:t>Read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understand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the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66060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30" h="533400">
                <a:moveTo>
                  <a:pt x="227837" y="0"/>
                </a:moveTo>
                <a:lnTo>
                  <a:pt x="227837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7" y="426720"/>
                </a:lnTo>
                <a:lnTo>
                  <a:pt x="227837" y="533400"/>
                </a:lnTo>
                <a:lnTo>
                  <a:pt x="455675" y="266700"/>
                </a:lnTo>
                <a:lnTo>
                  <a:pt x="227837" y="0"/>
                </a:lnTo>
                <a:close/>
              </a:path>
            </a:pathLst>
          </a:custGeom>
          <a:solidFill>
            <a:srgbClr val="6EEB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429000" y="3112007"/>
            <a:ext cx="2164080" cy="1304925"/>
            <a:chOff x="3429000" y="3112007"/>
            <a:chExt cx="2164080" cy="1304925"/>
          </a:xfrm>
        </p:grpSpPr>
        <p:sp>
          <p:nvSpPr>
            <p:cNvPr id="13" name="object 13"/>
            <p:cNvSpPr/>
            <p:nvPr/>
          </p:nvSpPr>
          <p:spPr>
            <a:xfrm>
              <a:off x="34366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2019934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19934" y="1289304"/>
                  </a:lnTo>
                  <a:lnTo>
                    <a:pt x="2070080" y="1279163"/>
                  </a:lnTo>
                  <a:lnTo>
                    <a:pt x="2111057" y="1251521"/>
                  </a:lnTo>
                  <a:lnTo>
                    <a:pt x="2138699" y="1210544"/>
                  </a:lnTo>
                  <a:lnTo>
                    <a:pt x="2148840" y="1160399"/>
                  </a:lnTo>
                  <a:lnTo>
                    <a:pt x="2148840" y="128905"/>
                  </a:lnTo>
                  <a:lnTo>
                    <a:pt x="2138699" y="78759"/>
                  </a:lnTo>
                  <a:lnTo>
                    <a:pt x="2111057" y="37782"/>
                  </a:lnTo>
                  <a:lnTo>
                    <a:pt x="2070080" y="10140"/>
                  </a:lnTo>
                  <a:lnTo>
                    <a:pt x="2019934" y="0"/>
                  </a:lnTo>
                  <a:close/>
                </a:path>
              </a:pathLst>
            </a:custGeom>
            <a:solidFill>
              <a:srgbClr val="B6D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66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19934" y="0"/>
                  </a:lnTo>
                  <a:lnTo>
                    <a:pt x="2070080" y="10140"/>
                  </a:lnTo>
                  <a:lnTo>
                    <a:pt x="2111057" y="37782"/>
                  </a:lnTo>
                  <a:lnTo>
                    <a:pt x="2138699" y="78759"/>
                  </a:lnTo>
                  <a:lnTo>
                    <a:pt x="2148840" y="128905"/>
                  </a:lnTo>
                  <a:lnTo>
                    <a:pt x="2148840" y="1160399"/>
                  </a:lnTo>
                  <a:lnTo>
                    <a:pt x="2138699" y="1210544"/>
                  </a:lnTo>
                  <a:lnTo>
                    <a:pt x="2111057" y="1251521"/>
                  </a:lnTo>
                  <a:lnTo>
                    <a:pt x="2070080" y="1279163"/>
                  </a:lnTo>
                  <a:lnTo>
                    <a:pt x="2019934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55567" y="3536060"/>
            <a:ext cx="1711325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35890" marR="5080" indent="-123825">
              <a:lnSpc>
                <a:spcPts val="1440"/>
              </a:lnSpc>
              <a:spcBef>
                <a:spcPts val="350"/>
              </a:spcBef>
            </a:pPr>
            <a:r>
              <a:rPr sz="1400" b="1" dirty="0">
                <a:latin typeface="Times New Roman"/>
                <a:cs typeface="Times New Roman"/>
              </a:rPr>
              <a:t>Merge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two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dataset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Clean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75959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7" y="426720"/>
                </a:lnTo>
                <a:lnTo>
                  <a:pt x="227837" y="533400"/>
                </a:lnTo>
                <a:lnTo>
                  <a:pt x="455675" y="266700"/>
                </a:lnTo>
                <a:lnTo>
                  <a:pt x="227837" y="0"/>
                </a:lnTo>
                <a:close/>
              </a:path>
            </a:pathLst>
          </a:custGeom>
          <a:solidFill>
            <a:srgbClr val="B6D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6438900" y="3112007"/>
            <a:ext cx="2164080" cy="1304925"/>
            <a:chOff x="6438900" y="3112007"/>
            <a:chExt cx="2164080" cy="1304925"/>
          </a:xfrm>
        </p:grpSpPr>
        <p:sp>
          <p:nvSpPr>
            <p:cNvPr id="18" name="object 18"/>
            <p:cNvSpPr/>
            <p:nvPr/>
          </p:nvSpPr>
          <p:spPr>
            <a:xfrm>
              <a:off x="64465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2019934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19934" y="1289304"/>
                  </a:lnTo>
                  <a:lnTo>
                    <a:pt x="2070080" y="1279163"/>
                  </a:lnTo>
                  <a:lnTo>
                    <a:pt x="2111057" y="1251521"/>
                  </a:lnTo>
                  <a:lnTo>
                    <a:pt x="2138699" y="1210544"/>
                  </a:lnTo>
                  <a:lnTo>
                    <a:pt x="2148839" y="1160399"/>
                  </a:lnTo>
                  <a:lnTo>
                    <a:pt x="2148839" y="128905"/>
                  </a:lnTo>
                  <a:lnTo>
                    <a:pt x="2138699" y="78759"/>
                  </a:lnTo>
                  <a:lnTo>
                    <a:pt x="2111057" y="37782"/>
                  </a:lnTo>
                  <a:lnTo>
                    <a:pt x="2070080" y="10140"/>
                  </a:lnTo>
                  <a:lnTo>
                    <a:pt x="2019934" y="0"/>
                  </a:lnTo>
                  <a:close/>
                </a:path>
              </a:pathLst>
            </a:custGeom>
            <a:solidFill>
              <a:srgbClr val="EEB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6520" y="3119627"/>
              <a:ext cx="2148840" cy="1289685"/>
            </a:xfrm>
            <a:custGeom>
              <a:avLst/>
              <a:gdLst/>
              <a:ahLst/>
              <a:cxnLst/>
              <a:rect l="l" t="t" r="r" b="b"/>
              <a:pathLst>
                <a:path w="2148840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19934" y="0"/>
                  </a:lnTo>
                  <a:lnTo>
                    <a:pt x="2070080" y="10140"/>
                  </a:lnTo>
                  <a:lnTo>
                    <a:pt x="2111057" y="37782"/>
                  </a:lnTo>
                  <a:lnTo>
                    <a:pt x="2138699" y="78759"/>
                  </a:lnTo>
                  <a:lnTo>
                    <a:pt x="2148839" y="128905"/>
                  </a:lnTo>
                  <a:lnTo>
                    <a:pt x="2148839" y="1160399"/>
                  </a:lnTo>
                  <a:lnTo>
                    <a:pt x="2138699" y="1210544"/>
                  </a:lnTo>
                  <a:lnTo>
                    <a:pt x="2111057" y="1251521"/>
                  </a:lnTo>
                  <a:lnTo>
                    <a:pt x="2070080" y="1279163"/>
                  </a:lnTo>
                  <a:lnTo>
                    <a:pt x="2019934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24904" y="3628135"/>
            <a:ext cx="1590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Visualization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784335" y="3497579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8" y="0"/>
                </a:moveTo>
                <a:lnTo>
                  <a:pt x="227838" y="106680"/>
                </a:lnTo>
                <a:lnTo>
                  <a:pt x="0" y="106680"/>
                </a:lnTo>
                <a:lnTo>
                  <a:pt x="0" y="426720"/>
                </a:lnTo>
                <a:lnTo>
                  <a:pt x="227838" y="426720"/>
                </a:lnTo>
                <a:lnTo>
                  <a:pt x="227838" y="533400"/>
                </a:lnTo>
                <a:lnTo>
                  <a:pt x="455675" y="266700"/>
                </a:lnTo>
                <a:lnTo>
                  <a:pt x="227838" y="0"/>
                </a:lnTo>
                <a:close/>
              </a:path>
            </a:pathLst>
          </a:custGeom>
          <a:solidFill>
            <a:srgbClr val="EEB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9447276" y="3112007"/>
            <a:ext cx="2165985" cy="1304925"/>
            <a:chOff x="9447276" y="3112007"/>
            <a:chExt cx="2165985" cy="1304925"/>
          </a:xfrm>
        </p:grpSpPr>
        <p:sp>
          <p:nvSpPr>
            <p:cNvPr id="23" name="object 23"/>
            <p:cNvSpPr/>
            <p:nvPr/>
          </p:nvSpPr>
          <p:spPr>
            <a:xfrm>
              <a:off x="9454896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2021458" y="0"/>
                  </a:moveTo>
                  <a:lnTo>
                    <a:pt x="128904" y="0"/>
                  </a:lnTo>
                  <a:lnTo>
                    <a:pt x="78759" y="10140"/>
                  </a:lnTo>
                  <a:lnTo>
                    <a:pt x="37782" y="37782"/>
                  </a:lnTo>
                  <a:lnTo>
                    <a:pt x="10140" y="78759"/>
                  </a:lnTo>
                  <a:lnTo>
                    <a:pt x="0" y="128905"/>
                  </a:lnTo>
                  <a:lnTo>
                    <a:pt x="0" y="1160399"/>
                  </a:lnTo>
                  <a:lnTo>
                    <a:pt x="10140" y="1210544"/>
                  </a:lnTo>
                  <a:lnTo>
                    <a:pt x="37782" y="1251521"/>
                  </a:lnTo>
                  <a:lnTo>
                    <a:pt x="78759" y="1279163"/>
                  </a:lnTo>
                  <a:lnTo>
                    <a:pt x="128904" y="1289304"/>
                  </a:lnTo>
                  <a:lnTo>
                    <a:pt x="2021458" y="1289304"/>
                  </a:lnTo>
                  <a:lnTo>
                    <a:pt x="2071604" y="1279163"/>
                  </a:lnTo>
                  <a:lnTo>
                    <a:pt x="2112581" y="1251521"/>
                  </a:lnTo>
                  <a:lnTo>
                    <a:pt x="2140223" y="1210544"/>
                  </a:lnTo>
                  <a:lnTo>
                    <a:pt x="2150363" y="1160399"/>
                  </a:lnTo>
                  <a:lnTo>
                    <a:pt x="2150363" y="128905"/>
                  </a:lnTo>
                  <a:lnTo>
                    <a:pt x="2140223" y="78759"/>
                  </a:lnTo>
                  <a:lnTo>
                    <a:pt x="2112581" y="37782"/>
                  </a:lnTo>
                  <a:lnTo>
                    <a:pt x="2071604" y="10140"/>
                  </a:lnTo>
                  <a:lnTo>
                    <a:pt x="2021458" y="0"/>
                  </a:lnTo>
                  <a:close/>
                </a:path>
              </a:pathLst>
            </a:custGeom>
            <a:solidFill>
              <a:srgbClr val="EE7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454896" y="3119627"/>
              <a:ext cx="2150745" cy="1289685"/>
            </a:xfrm>
            <a:custGeom>
              <a:avLst/>
              <a:gdLst/>
              <a:ahLst/>
              <a:cxnLst/>
              <a:rect l="l" t="t" r="r" b="b"/>
              <a:pathLst>
                <a:path w="2150745" h="1289685">
                  <a:moveTo>
                    <a:pt x="0" y="128905"/>
                  </a:moveTo>
                  <a:lnTo>
                    <a:pt x="10140" y="78759"/>
                  </a:lnTo>
                  <a:lnTo>
                    <a:pt x="37782" y="37782"/>
                  </a:lnTo>
                  <a:lnTo>
                    <a:pt x="78759" y="10140"/>
                  </a:lnTo>
                  <a:lnTo>
                    <a:pt x="128904" y="0"/>
                  </a:lnTo>
                  <a:lnTo>
                    <a:pt x="2021458" y="0"/>
                  </a:lnTo>
                  <a:lnTo>
                    <a:pt x="2071604" y="10140"/>
                  </a:lnTo>
                  <a:lnTo>
                    <a:pt x="2112581" y="37782"/>
                  </a:lnTo>
                  <a:lnTo>
                    <a:pt x="2140223" y="78759"/>
                  </a:lnTo>
                  <a:lnTo>
                    <a:pt x="2150363" y="128905"/>
                  </a:lnTo>
                  <a:lnTo>
                    <a:pt x="2150363" y="1160399"/>
                  </a:lnTo>
                  <a:lnTo>
                    <a:pt x="2140223" y="1210544"/>
                  </a:lnTo>
                  <a:lnTo>
                    <a:pt x="2112581" y="1251521"/>
                  </a:lnTo>
                  <a:lnTo>
                    <a:pt x="2071604" y="1279163"/>
                  </a:lnTo>
                  <a:lnTo>
                    <a:pt x="2021458" y="1289304"/>
                  </a:lnTo>
                  <a:lnTo>
                    <a:pt x="128904" y="1289304"/>
                  </a:lnTo>
                  <a:lnTo>
                    <a:pt x="78759" y="1279163"/>
                  </a:lnTo>
                  <a:lnTo>
                    <a:pt x="37782" y="1251521"/>
                  </a:lnTo>
                  <a:lnTo>
                    <a:pt x="10140" y="1210544"/>
                  </a:lnTo>
                  <a:lnTo>
                    <a:pt x="0" y="1160399"/>
                  </a:lnTo>
                  <a:lnTo>
                    <a:pt x="0" y="12890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735057" y="3628135"/>
            <a:ext cx="1592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Feature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264140" y="4597908"/>
            <a:ext cx="533400" cy="455930"/>
          </a:xfrm>
          <a:custGeom>
            <a:avLst/>
            <a:gdLst/>
            <a:ahLst/>
            <a:cxnLst/>
            <a:rect l="l" t="t" r="r" b="b"/>
            <a:pathLst>
              <a:path w="533400" h="455929">
                <a:moveTo>
                  <a:pt x="426719" y="0"/>
                </a:moveTo>
                <a:lnTo>
                  <a:pt x="106679" y="0"/>
                </a:lnTo>
                <a:lnTo>
                  <a:pt x="106679" y="227838"/>
                </a:lnTo>
                <a:lnTo>
                  <a:pt x="0" y="227838"/>
                </a:lnTo>
                <a:lnTo>
                  <a:pt x="266700" y="455676"/>
                </a:lnTo>
                <a:lnTo>
                  <a:pt x="533400" y="227838"/>
                </a:lnTo>
                <a:lnTo>
                  <a:pt x="426719" y="227838"/>
                </a:lnTo>
                <a:lnTo>
                  <a:pt x="426719" y="0"/>
                </a:lnTo>
                <a:close/>
              </a:path>
            </a:pathLst>
          </a:custGeom>
          <a:solidFill>
            <a:srgbClr val="EE75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9447276" y="5260847"/>
            <a:ext cx="2165985" cy="1306195"/>
            <a:chOff x="9447276" y="5260847"/>
            <a:chExt cx="2165985" cy="1306195"/>
          </a:xfrm>
        </p:grpSpPr>
        <p:sp>
          <p:nvSpPr>
            <p:cNvPr id="28" name="object 28"/>
            <p:cNvSpPr/>
            <p:nvPr/>
          </p:nvSpPr>
          <p:spPr>
            <a:xfrm>
              <a:off x="9454896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2021331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21331" y="1290827"/>
                  </a:lnTo>
                  <a:lnTo>
                    <a:pt x="2071550" y="1280683"/>
                  </a:lnTo>
                  <a:lnTo>
                    <a:pt x="2112565" y="1253018"/>
                  </a:lnTo>
                  <a:lnTo>
                    <a:pt x="2140221" y="1211987"/>
                  </a:lnTo>
                  <a:lnTo>
                    <a:pt x="2150363" y="1161745"/>
                  </a:lnTo>
                  <a:lnTo>
                    <a:pt x="2150363" y="129031"/>
                  </a:lnTo>
                  <a:lnTo>
                    <a:pt x="2140221" y="78813"/>
                  </a:lnTo>
                  <a:lnTo>
                    <a:pt x="2112565" y="37798"/>
                  </a:lnTo>
                  <a:lnTo>
                    <a:pt x="2071550" y="10142"/>
                  </a:lnTo>
                  <a:lnTo>
                    <a:pt x="2021331" y="0"/>
                  </a:lnTo>
                  <a:close/>
                </a:path>
              </a:pathLst>
            </a:custGeom>
            <a:solidFill>
              <a:srgbClr val="EC51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54896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21331" y="0"/>
                  </a:lnTo>
                  <a:lnTo>
                    <a:pt x="2071550" y="10142"/>
                  </a:lnTo>
                  <a:lnTo>
                    <a:pt x="2112565" y="37798"/>
                  </a:lnTo>
                  <a:lnTo>
                    <a:pt x="2140221" y="78813"/>
                  </a:lnTo>
                  <a:lnTo>
                    <a:pt x="2150363" y="129031"/>
                  </a:lnTo>
                  <a:lnTo>
                    <a:pt x="2150363" y="1161745"/>
                  </a:lnTo>
                  <a:lnTo>
                    <a:pt x="2140221" y="1211987"/>
                  </a:lnTo>
                  <a:lnTo>
                    <a:pt x="2112565" y="1253018"/>
                  </a:lnTo>
                  <a:lnTo>
                    <a:pt x="2071550" y="1280683"/>
                  </a:lnTo>
                  <a:lnTo>
                    <a:pt x="2021331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750297" y="5686450"/>
            <a:ext cx="1565910" cy="4222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403860" marR="5080" indent="-391795">
              <a:lnSpc>
                <a:spcPts val="1440"/>
              </a:lnSpc>
              <a:spcBef>
                <a:spcPts val="350"/>
              </a:spcBef>
            </a:pPr>
            <a:r>
              <a:rPr sz="1400" b="1" spc="-10" dirty="0">
                <a:latin typeface="Times New Roman"/>
                <a:cs typeface="Times New Roman"/>
              </a:rPr>
              <a:t>Prepare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data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for </a:t>
            </a:r>
            <a:r>
              <a:rPr sz="1400" b="1" spc="-10" dirty="0">
                <a:latin typeface="Times New Roman"/>
                <a:cs typeface="Times New Roman"/>
              </a:rPr>
              <a:t>modelling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10243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EC515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6438900" y="5260847"/>
            <a:ext cx="2164080" cy="1306195"/>
            <a:chOff x="6438900" y="5260847"/>
            <a:chExt cx="2164080" cy="1306195"/>
          </a:xfrm>
        </p:grpSpPr>
        <p:sp>
          <p:nvSpPr>
            <p:cNvPr id="33" name="object 33"/>
            <p:cNvSpPr/>
            <p:nvPr/>
          </p:nvSpPr>
          <p:spPr>
            <a:xfrm>
              <a:off x="64465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2019807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19807" y="1290827"/>
                  </a:lnTo>
                  <a:lnTo>
                    <a:pt x="2070026" y="1280683"/>
                  </a:lnTo>
                  <a:lnTo>
                    <a:pt x="2111041" y="1253018"/>
                  </a:lnTo>
                  <a:lnTo>
                    <a:pt x="2138697" y="1211987"/>
                  </a:lnTo>
                  <a:lnTo>
                    <a:pt x="2148839" y="1161745"/>
                  </a:lnTo>
                  <a:lnTo>
                    <a:pt x="2148839" y="129031"/>
                  </a:lnTo>
                  <a:lnTo>
                    <a:pt x="2138697" y="78813"/>
                  </a:lnTo>
                  <a:lnTo>
                    <a:pt x="2111041" y="37798"/>
                  </a:lnTo>
                  <a:lnTo>
                    <a:pt x="2070026" y="10142"/>
                  </a:lnTo>
                  <a:lnTo>
                    <a:pt x="2019807" y="0"/>
                  </a:lnTo>
                  <a:close/>
                </a:path>
              </a:pathLst>
            </a:custGeom>
            <a:solidFill>
              <a:srgbClr val="6EEB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465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19807" y="0"/>
                  </a:lnTo>
                  <a:lnTo>
                    <a:pt x="2070026" y="10142"/>
                  </a:lnTo>
                  <a:lnTo>
                    <a:pt x="2111041" y="37798"/>
                  </a:lnTo>
                  <a:lnTo>
                    <a:pt x="2138697" y="78813"/>
                  </a:lnTo>
                  <a:lnTo>
                    <a:pt x="2148839" y="129031"/>
                  </a:lnTo>
                  <a:lnTo>
                    <a:pt x="2148839" y="1161745"/>
                  </a:lnTo>
                  <a:lnTo>
                    <a:pt x="2138697" y="1211987"/>
                  </a:lnTo>
                  <a:lnTo>
                    <a:pt x="2111041" y="1253018"/>
                  </a:lnTo>
                  <a:lnTo>
                    <a:pt x="2070026" y="1280683"/>
                  </a:lnTo>
                  <a:lnTo>
                    <a:pt x="2019807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21143" y="5778500"/>
            <a:ext cx="8001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Modelling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00344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6EEB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3429000" y="5260847"/>
            <a:ext cx="2164080" cy="1306195"/>
            <a:chOff x="3429000" y="5260847"/>
            <a:chExt cx="2164080" cy="1306195"/>
          </a:xfrm>
        </p:grpSpPr>
        <p:sp>
          <p:nvSpPr>
            <p:cNvPr id="38" name="object 38"/>
            <p:cNvSpPr/>
            <p:nvPr/>
          </p:nvSpPr>
          <p:spPr>
            <a:xfrm>
              <a:off x="34366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2019807" y="0"/>
                  </a:moveTo>
                  <a:lnTo>
                    <a:pt x="129031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2" y="1211987"/>
                  </a:lnTo>
                  <a:lnTo>
                    <a:pt x="37798" y="1253018"/>
                  </a:lnTo>
                  <a:lnTo>
                    <a:pt x="78813" y="1280683"/>
                  </a:lnTo>
                  <a:lnTo>
                    <a:pt x="129031" y="1290827"/>
                  </a:lnTo>
                  <a:lnTo>
                    <a:pt x="2019807" y="1290827"/>
                  </a:lnTo>
                  <a:lnTo>
                    <a:pt x="2070026" y="1280683"/>
                  </a:lnTo>
                  <a:lnTo>
                    <a:pt x="2111041" y="1253018"/>
                  </a:lnTo>
                  <a:lnTo>
                    <a:pt x="2138697" y="1211987"/>
                  </a:lnTo>
                  <a:lnTo>
                    <a:pt x="2148840" y="1161745"/>
                  </a:lnTo>
                  <a:lnTo>
                    <a:pt x="2148840" y="129031"/>
                  </a:lnTo>
                  <a:lnTo>
                    <a:pt x="2138697" y="78813"/>
                  </a:lnTo>
                  <a:lnTo>
                    <a:pt x="2111041" y="37798"/>
                  </a:lnTo>
                  <a:lnTo>
                    <a:pt x="2070026" y="10142"/>
                  </a:lnTo>
                  <a:lnTo>
                    <a:pt x="2019807" y="0"/>
                  </a:lnTo>
                  <a:close/>
                </a:path>
              </a:pathLst>
            </a:custGeom>
            <a:solidFill>
              <a:srgbClr val="B6D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36620" y="5268467"/>
              <a:ext cx="2148840" cy="1290955"/>
            </a:xfrm>
            <a:custGeom>
              <a:avLst/>
              <a:gdLst/>
              <a:ahLst/>
              <a:cxnLst/>
              <a:rect l="l" t="t" r="r" b="b"/>
              <a:pathLst>
                <a:path w="2148840" h="1290954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1" y="0"/>
                  </a:lnTo>
                  <a:lnTo>
                    <a:pt x="2019807" y="0"/>
                  </a:lnTo>
                  <a:lnTo>
                    <a:pt x="2070026" y="10142"/>
                  </a:lnTo>
                  <a:lnTo>
                    <a:pt x="2111041" y="37798"/>
                  </a:lnTo>
                  <a:lnTo>
                    <a:pt x="2138697" y="78813"/>
                  </a:lnTo>
                  <a:lnTo>
                    <a:pt x="2148840" y="129031"/>
                  </a:lnTo>
                  <a:lnTo>
                    <a:pt x="2148840" y="1161745"/>
                  </a:lnTo>
                  <a:lnTo>
                    <a:pt x="2138697" y="1211987"/>
                  </a:lnTo>
                  <a:lnTo>
                    <a:pt x="2111041" y="1253018"/>
                  </a:lnTo>
                  <a:lnTo>
                    <a:pt x="2070026" y="1280683"/>
                  </a:lnTo>
                  <a:lnTo>
                    <a:pt x="2019807" y="1290827"/>
                  </a:lnTo>
                  <a:lnTo>
                    <a:pt x="129031" y="1290827"/>
                  </a:lnTo>
                  <a:lnTo>
                    <a:pt x="78813" y="1280683"/>
                  </a:lnTo>
                  <a:lnTo>
                    <a:pt x="37798" y="1253018"/>
                  </a:lnTo>
                  <a:lnTo>
                    <a:pt x="10142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975608" y="5778500"/>
            <a:ext cx="1071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Final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analysis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791967" y="5646420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30" h="533400">
                <a:moveTo>
                  <a:pt x="227837" y="0"/>
                </a:moveTo>
                <a:lnTo>
                  <a:pt x="0" y="266699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B6DF5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419100" y="5260847"/>
            <a:ext cx="2165985" cy="1306195"/>
            <a:chOff x="419100" y="5260847"/>
            <a:chExt cx="2165985" cy="1306195"/>
          </a:xfrm>
        </p:grpSpPr>
        <p:sp>
          <p:nvSpPr>
            <p:cNvPr id="43" name="object 43"/>
            <p:cNvSpPr/>
            <p:nvPr/>
          </p:nvSpPr>
          <p:spPr>
            <a:xfrm>
              <a:off x="426720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2021332" y="0"/>
                  </a:moveTo>
                  <a:lnTo>
                    <a:pt x="129082" y="0"/>
                  </a:lnTo>
                  <a:lnTo>
                    <a:pt x="78840" y="10142"/>
                  </a:lnTo>
                  <a:lnTo>
                    <a:pt x="37809" y="37798"/>
                  </a:lnTo>
                  <a:lnTo>
                    <a:pt x="10144" y="78813"/>
                  </a:lnTo>
                  <a:lnTo>
                    <a:pt x="0" y="129031"/>
                  </a:lnTo>
                  <a:lnTo>
                    <a:pt x="0" y="1161745"/>
                  </a:lnTo>
                  <a:lnTo>
                    <a:pt x="10144" y="1211987"/>
                  </a:lnTo>
                  <a:lnTo>
                    <a:pt x="37809" y="1253018"/>
                  </a:lnTo>
                  <a:lnTo>
                    <a:pt x="78840" y="1280683"/>
                  </a:lnTo>
                  <a:lnTo>
                    <a:pt x="129082" y="1290827"/>
                  </a:lnTo>
                  <a:lnTo>
                    <a:pt x="2021332" y="1290827"/>
                  </a:lnTo>
                  <a:lnTo>
                    <a:pt x="2071550" y="1280683"/>
                  </a:lnTo>
                  <a:lnTo>
                    <a:pt x="2112565" y="1253018"/>
                  </a:lnTo>
                  <a:lnTo>
                    <a:pt x="2140221" y="1211987"/>
                  </a:lnTo>
                  <a:lnTo>
                    <a:pt x="2150364" y="1161745"/>
                  </a:lnTo>
                  <a:lnTo>
                    <a:pt x="2150364" y="129031"/>
                  </a:lnTo>
                  <a:lnTo>
                    <a:pt x="2140221" y="78813"/>
                  </a:lnTo>
                  <a:lnTo>
                    <a:pt x="2112565" y="37798"/>
                  </a:lnTo>
                  <a:lnTo>
                    <a:pt x="2071550" y="10142"/>
                  </a:lnTo>
                  <a:lnTo>
                    <a:pt x="2021332" y="0"/>
                  </a:lnTo>
                  <a:close/>
                </a:path>
              </a:pathLst>
            </a:custGeom>
            <a:solidFill>
              <a:srgbClr val="EEB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6720" y="5268467"/>
              <a:ext cx="2150745" cy="1290955"/>
            </a:xfrm>
            <a:custGeom>
              <a:avLst/>
              <a:gdLst/>
              <a:ahLst/>
              <a:cxnLst/>
              <a:rect l="l" t="t" r="r" b="b"/>
              <a:pathLst>
                <a:path w="2150745" h="1290954">
                  <a:moveTo>
                    <a:pt x="0" y="129031"/>
                  </a:moveTo>
                  <a:lnTo>
                    <a:pt x="10144" y="78813"/>
                  </a:lnTo>
                  <a:lnTo>
                    <a:pt x="37809" y="37798"/>
                  </a:lnTo>
                  <a:lnTo>
                    <a:pt x="78840" y="10142"/>
                  </a:lnTo>
                  <a:lnTo>
                    <a:pt x="129082" y="0"/>
                  </a:lnTo>
                  <a:lnTo>
                    <a:pt x="2021332" y="0"/>
                  </a:lnTo>
                  <a:lnTo>
                    <a:pt x="2071550" y="10142"/>
                  </a:lnTo>
                  <a:lnTo>
                    <a:pt x="2112565" y="37798"/>
                  </a:lnTo>
                  <a:lnTo>
                    <a:pt x="2140221" y="78813"/>
                  </a:lnTo>
                  <a:lnTo>
                    <a:pt x="2150364" y="129031"/>
                  </a:lnTo>
                  <a:lnTo>
                    <a:pt x="2150364" y="1161745"/>
                  </a:lnTo>
                  <a:lnTo>
                    <a:pt x="2140221" y="1211987"/>
                  </a:lnTo>
                  <a:lnTo>
                    <a:pt x="2112565" y="1253018"/>
                  </a:lnTo>
                  <a:lnTo>
                    <a:pt x="2071550" y="1280683"/>
                  </a:lnTo>
                  <a:lnTo>
                    <a:pt x="2021332" y="1290827"/>
                  </a:lnTo>
                  <a:lnTo>
                    <a:pt x="129082" y="1290827"/>
                  </a:lnTo>
                  <a:lnTo>
                    <a:pt x="78840" y="1280683"/>
                  </a:lnTo>
                  <a:lnTo>
                    <a:pt x="37809" y="1253018"/>
                  </a:lnTo>
                  <a:lnTo>
                    <a:pt x="10144" y="1211987"/>
                  </a:lnTo>
                  <a:lnTo>
                    <a:pt x="0" y="1161745"/>
                  </a:lnTo>
                  <a:lnTo>
                    <a:pt x="0" y="129031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61415" y="5778500"/>
            <a:ext cx="880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733546" y="2148585"/>
            <a:ext cx="4455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Flow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chart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201525" cy="2194560"/>
            <a:chOff x="-4572" y="-4572"/>
            <a:chExt cx="12201525" cy="2194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052" y="556259"/>
              <a:ext cx="9073896" cy="117348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0918" rIns="0" bIns="0" rtlCol="0">
            <a:spAutoFit/>
          </a:bodyPr>
          <a:lstStyle/>
          <a:p>
            <a:pPr marL="173545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PREPARE</a:t>
            </a:r>
            <a:r>
              <a:rPr sz="4000" spc="-165" dirty="0"/>
              <a:t> </a:t>
            </a:r>
            <a:r>
              <a:rPr sz="4000" spc="-180" dirty="0"/>
              <a:t>DATA</a:t>
            </a:r>
            <a:r>
              <a:rPr sz="4000" spc="-195" dirty="0"/>
              <a:t> </a:t>
            </a:r>
            <a:r>
              <a:rPr sz="4000" dirty="0"/>
              <a:t>FOR</a:t>
            </a:r>
            <a:r>
              <a:rPr sz="4000" spc="-100" dirty="0"/>
              <a:t> </a:t>
            </a:r>
            <a:r>
              <a:rPr sz="4000" spc="-10" dirty="0"/>
              <a:t>MODELLING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818388" y="3477767"/>
            <a:ext cx="8155305" cy="1504315"/>
          </a:xfrm>
          <a:custGeom>
            <a:avLst/>
            <a:gdLst/>
            <a:ahLst/>
            <a:cxnLst/>
            <a:rect l="l" t="t" r="r" b="b"/>
            <a:pathLst>
              <a:path w="8155305" h="1504314">
                <a:moveTo>
                  <a:pt x="7402830" y="0"/>
                </a:moveTo>
                <a:lnTo>
                  <a:pt x="7402830" y="376047"/>
                </a:lnTo>
                <a:lnTo>
                  <a:pt x="0" y="376047"/>
                </a:lnTo>
                <a:lnTo>
                  <a:pt x="376047" y="752094"/>
                </a:lnTo>
                <a:lnTo>
                  <a:pt x="0" y="1128141"/>
                </a:lnTo>
                <a:lnTo>
                  <a:pt x="7402830" y="1128141"/>
                </a:lnTo>
                <a:lnTo>
                  <a:pt x="7402830" y="1504188"/>
                </a:lnTo>
                <a:lnTo>
                  <a:pt x="8154923" y="752094"/>
                </a:lnTo>
                <a:lnTo>
                  <a:pt x="7402830" y="0"/>
                </a:lnTo>
                <a:close/>
              </a:path>
            </a:pathLst>
          </a:custGeom>
          <a:solidFill>
            <a:srgbClr val="CAE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20494" y="2767964"/>
            <a:ext cx="1167130" cy="9398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034" marR="5080" indent="-13970" algn="just">
              <a:lnSpc>
                <a:spcPts val="2280"/>
              </a:lnSpc>
              <a:spcBef>
                <a:spcPts val="47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Drop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Times New Roman"/>
                <a:cs typeface="Times New Roman"/>
              </a:rPr>
              <a:t>high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correlated variables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08988" y="2415539"/>
            <a:ext cx="6425565" cy="2010410"/>
            <a:chOff x="1808988" y="2415539"/>
            <a:chExt cx="6425565" cy="2010410"/>
          </a:xfrm>
        </p:grpSpPr>
        <p:sp>
          <p:nvSpPr>
            <p:cNvPr id="10" name="object 10"/>
            <p:cNvSpPr/>
            <p:nvPr/>
          </p:nvSpPr>
          <p:spPr>
            <a:xfrm>
              <a:off x="1816608" y="40416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5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8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16608" y="4041647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5" h="376554">
                  <a:moveTo>
                    <a:pt x="0" y="188213"/>
                  </a:moveTo>
                  <a:lnTo>
                    <a:pt x="6727" y="138200"/>
                  </a:lnTo>
                  <a:lnTo>
                    <a:pt x="25710" y="93246"/>
                  </a:lnTo>
                  <a:lnTo>
                    <a:pt x="55149" y="55149"/>
                  </a:lnTo>
                  <a:lnTo>
                    <a:pt x="93246" y="25710"/>
                  </a:lnTo>
                  <a:lnTo>
                    <a:pt x="138200" y="6727"/>
                  </a:lnTo>
                  <a:lnTo>
                    <a:pt x="188214" y="0"/>
                  </a:lnTo>
                  <a:lnTo>
                    <a:pt x="238227" y="6727"/>
                  </a:lnTo>
                  <a:lnTo>
                    <a:pt x="283181" y="25710"/>
                  </a:lnTo>
                  <a:lnTo>
                    <a:pt x="321278" y="55149"/>
                  </a:lnTo>
                  <a:lnTo>
                    <a:pt x="350717" y="93246"/>
                  </a:lnTo>
                  <a:lnTo>
                    <a:pt x="369700" y="138200"/>
                  </a:lnTo>
                  <a:lnTo>
                    <a:pt x="376428" y="188213"/>
                  </a:lnTo>
                  <a:lnTo>
                    <a:pt x="369700" y="238227"/>
                  </a:lnTo>
                  <a:lnTo>
                    <a:pt x="350717" y="283181"/>
                  </a:lnTo>
                  <a:lnTo>
                    <a:pt x="321278" y="321278"/>
                  </a:lnTo>
                  <a:lnTo>
                    <a:pt x="283181" y="350717"/>
                  </a:lnTo>
                  <a:lnTo>
                    <a:pt x="238227" y="369700"/>
                  </a:lnTo>
                  <a:lnTo>
                    <a:pt x="188214" y="376427"/>
                  </a:lnTo>
                  <a:lnTo>
                    <a:pt x="138200" y="369700"/>
                  </a:lnTo>
                  <a:lnTo>
                    <a:pt x="93246" y="350717"/>
                  </a:lnTo>
                  <a:lnTo>
                    <a:pt x="55149" y="321278"/>
                  </a:lnTo>
                  <a:lnTo>
                    <a:pt x="25710" y="283181"/>
                  </a:lnTo>
                  <a:lnTo>
                    <a:pt x="672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00727" y="4041647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187451" y="0"/>
                  </a:moveTo>
                  <a:lnTo>
                    <a:pt x="137627" y="6727"/>
                  </a:lnTo>
                  <a:lnTo>
                    <a:pt x="92851" y="25710"/>
                  </a:lnTo>
                  <a:lnTo>
                    <a:pt x="54911" y="55149"/>
                  </a:lnTo>
                  <a:lnTo>
                    <a:pt x="25597" y="93246"/>
                  </a:lnTo>
                  <a:lnTo>
                    <a:pt x="6697" y="138200"/>
                  </a:lnTo>
                  <a:lnTo>
                    <a:pt x="0" y="188213"/>
                  </a:lnTo>
                  <a:lnTo>
                    <a:pt x="6697" y="238227"/>
                  </a:lnTo>
                  <a:lnTo>
                    <a:pt x="25597" y="283181"/>
                  </a:lnTo>
                  <a:lnTo>
                    <a:pt x="54911" y="321278"/>
                  </a:lnTo>
                  <a:lnTo>
                    <a:pt x="92851" y="350717"/>
                  </a:lnTo>
                  <a:lnTo>
                    <a:pt x="137627" y="369700"/>
                  </a:lnTo>
                  <a:lnTo>
                    <a:pt x="187451" y="376427"/>
                  </a:lnTo>
                  <a:lnTo>
                    <a:pt x="237276" y="369700"/>
                  </a:lnTo>
                  <a:lnTo>
                    <a:pt x="282052" y="350717"/>
                  </a:lnTo>
                  <a:lnTo>
                    <a:pt x="319992" y="321278"/>
                  </a:lnTo>
                  <a:lnTo>
                    <a:pt x="349306" y="283181"/>
                  </a:lnTo>
                  <a:lnTo>
                    <a:pt x="368206" y="238227"/>
                  </a:lnTo>
                  <a:lnTo>
                    <a:pt x="374904" y="188213"/>
                  </a:lnTo>
                  <a:lnTo>
                    <a:pt x="368206" y="138200"/>
                  </a:lnTo>
                  <a:lnTo>
                    <a:pt x="349306" y="93246"/>
                  </a:lnTo>
                  <a:lnTo>
                    <a:pt x="319992" y="55149"/>
                  </a:lnTo>
                  <a:lnTo>
                    <a:pt x="282052" y="25710"/>
                  </a:lnTo>
                  <a:lnTo>
                    <a:pt x="237276" y="6727"/>
                  </a:lnTo>
                  <a:lnTo>
                    <a:pt x="187451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0727" y="4041647"/>
              <a:ext cx="375285" cy="376555"/>
            </a:xfrm>
            <a:custGeom>
              <a:avLst/>
              <a:gdLst/>
              <a:ahLst/>
              <a:cxnLst/>
              <a:rect l="l" t="t" r="r" b="b"/>
              <a:pathLst>
                <a:path w="375285" h="376554">
                  <a:moveTo>
                    <a:pt x="0" y="188213"/>
                  </a:moveTo>
                  <a:lnTo>
                    <a:pt x="6697" y="138200"/>
                  </a:lnTo>
                  <a:lnTo>
                    <a:pt x="25597" y="93246"/>
                  </a:lnTo>
                  <a:lnTo>
                    <a:pt x="54911" y="55149"/>
                  </a:lnTo>
                  <a:lnTo>
                    <a:pt x="92851" y="25710"/>
                  </a:lnTo>
                  <a:lnTo>
                    <a:pt x="137627" y="6727"/>
                  </a:lnTo>
                  <a:lnTo>
                    <a:pt x="187451" y="0"/>
                  </a:lnTo>
                  <a:lnTo>
                    <a:pt x="237276" y="6727"/>
                  </a:lnTo>
                  <a:lnTo>
                    <a:pt x="282052" y="25710"/>
                  </a:lnTo>
                  <a:lnTo>
                    <a:pt x="319992" y="55149"/>
                  </a:lnTo>
                  <a:lnTo>
                    <a:pt x="349306" y="93246"/>
                  </a:lnTo>
                  <a:lnTo>
                    <a:pt x="368206" y="138200"/>
                  </a:lnTo>
                  <a:lnTo>
                    <a:pt x="374904" y="188213"/>
                  </a:lnTo>
                  <a:lnTo>
                    <a:pt x="368206" y="238227"/>
                  </a:lnTo>
                  <a:lnTo>
                    <a:pt x="349306" y="283181"/>
                  </a:lnTo>
                  <a:lnTo>
                    <a:pt x="319992" y="321278"/>
                  </a:lnTo>
                  <a:lnTo>
                    <a:pt x="282052" y="350717"/>
                  </a:lnTo>
                  <a:lnTo>
                    <a:pt x="237276" y="369700"/>
                  </a:lnTo>
                  <a:lnTo>
                    <a:pt x="187451" y="376427"/>
                  </a:lnTo>
                  <a:lnTo>
                    <a:pt x="137627" y="369700"/>
                  </a:lnTo>
                  <a:lnTo>
                    <a:pt x="92851" y="350717"/>
                  </a:lnTo>
                  <a:lnTo>
                    <a:pt x="54911" y="321278"/>
                  </a:lnTo>
                  <a:lnTo>
                    <a:pt x="25597" y="283181"/>
                  </a:lnTo>
                  <a:lnTo>
                    <a:pt x="669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1572" y="2415539"/>
              <a:ext cx="1063752" cy="6004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9676" y="2705099"/>
              <a:ext cx="2444496" cy="60045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7459" y="2994659"/>
              <a:ext cx="1330452" cy="6004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7440" y="3282695"/>
              <a:ext cx="1653539" cy="60045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75735" y="4700778"/>
            <a:ext cx="2025014" cy="12280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065" marR="5080" indent="-635" algn="ctr">
              <a:lnSpc>
                <a:spcPct val="8620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Dummy creations(variable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counted categories)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50458" y="2478786"/>
            <a:ext cx="2042160" cy="12274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1905" algn="ctr">
              <a:lnSpc>
                <a:spcPct val="86200"/>
              </a:lnSpc>
              <a:spcBef>
                <a:spcPts val="459"/>
              </a:spcBef>
            </a:pP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Label encoding(variable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large categories)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75704" y="4034028"/>
            <a:ext cx="391795" cy="391795"/>
            <a:chOff x="6775704" y="4034028"/>
            <a:chExt cx="391795" cy="391795"/>
          </a:xfrm>
        </p:grpSpPr>
        <p:sp>
          <p:nvSpPr>
            <p:cNvPr id="21" name="object 21"/>
            <p:cNvSpPr/>
            <p:nvPr/>
          </p:nvSpPr>
          <p:spPr>
            <a:xfrm>
              <a:off x="6783324" y="4041648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188214" y="0"/>
                  </a:moveTo>
                  <a:lnTo>
                    <a:pt x="138200" y="6727"/>
                  </a:lnTo>
                  <a:lnTo>
                    <a:pt x="93246" y="25710"/>
                  </a:lnTo>
                  <a:lnTo>
                    <a:pt x="55149" y="55149"/>
                  </a:lnTo>
                  <a:lnTo>
                    <a:pt x="25710" y="93246"/>
                  </a:lnTo>
                  <a:lnTo>
                    <a:pt x="6727" y="138200"/>
                  </a:lnTo>
                  <a:lnTo>
                    <a:pt x="0" y="188213"/>
                  </a:lnTo>
                  <a:lnTo>
                    <a:pt x="6727" y="238227"/>
                  </a:lnTo>
                  <a:lnTo>
                    <a:pt x="25710" y="283181"/>
                  </a:lnTo>
                  <a:lnTo>
                    <a:pt x="55149" y="321278"/>
                  </a:lnTo>
                  <a:lnTo>
                    <a:pt x="93246" y="350717"/>
                  </a:lnTo>
                  <a:lnTo>
                    <a:pt x="138200" y="369700"/>
                  </a:lnTo>
                  <a:lnTo>
                    <a:pt x="188214" y="376427"/>
                  </a:lnTo>
                  <a:lnTo>
                    <a:pt x="238227" y="369700"/>
                  </a:lnTo>
                  <a:lnTo>
                    <a:pt x="283181" y="350717"/>
                  </a:lnTo>
                  <a:lnTo>
                    <a:pt x="321278" y="321278"/>
                  </a:lnTo>
                  <a:lnTo>
                    <a:pt x="350717" y="283181"/>
                  </a:lnTo>
                  <a:lnTo>
                    <a:pt x="369700" y="238227"/>
                  </a:lnTo>
                  <a:lnTo>
                    <a:pt x="376427" y="188213"/>
                  </a:lnTo>
                  <a:lnTo>
                    <a:pt x="369700" y="138200"/>
                  </a:lnTo>
                  <a:lnTo>
                    <a:pt x="350717" y="93246"/>
                  </a:lnTo>
                  <a:lnTo>
                    <a:pt x="321278" y="55149"/>
                  </a:lnTo>
                  <a:lnTo>
                    <a:pt x="283181" y="25710"/>
                  </a:lnTo>
                  <a:lnTo>
                    <a:pt x="238227" y="6727"/>
                  </a:lnTo>
                  <a:lnTo>
                    <a:pt x="188214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83324" y="4041648"/>
              <a:ext cx="376555" cy="376555"/>
            </a:xfrm>
            <a:custGeom>
              <a:avLst/>
              <a:gdLst/>
              <a:ahLst/>
              <a:cxnLst/>
              <a:rect l="l" t="t" r="r" b="b"/>
              <a:pathLst>
                <a:path w="376554" h="376554">
                  <a:moveTo>
                    <a:pt x="0" y="188213"/>
                  </a:moveTo>
                  <a:lnTo>
                    <a:pt x="6727" y="138200"/>
                  </a:lnTo>
                  <a:lnTo>
                    <a:pt x="25710" y="93246"/>
                  </a:lnTo>
                  <a:lnTo>
                    <a:pt x="55149" y="55149"/>
                  </a:lnTo>
                  <a:lnTo>
                    <a:pt x="93246" y="25710"/>
                  </a:lnTo>
                  <a:lnTo>
                    <a:pt x="138200" y="6727"/>
                  </a:lnTo>
                  <a:lnTo>
                    <a:pt x="188214" y="0"/>
                  </a:lnTo>
                  <a:lnTo>
                    <a:pt x="238227" y="6727"/>
                  </a:lnTo>
                  <a:lnTo>
                    <a:pt x="283181" y="25710"/>
                  </a:lnTo>
                  <a:lnTo>
                    <a:pt x="321278" y="55149"/>
                  </a:lnTo>
                  <a:lnTo>
                    <a:pt x="350717" y="93246"/>
                  </a:lnTo>
                  <a:lnTo>
                    <a:pt x="369700" y="138200"/>
                  </a:lnTo>
                  <a:lnTo>
                    <a:pt x="376427" y="188213"/>
                  </a:lnTo>
                  <a:lnTo>
                    <a:pt x="369700" y="238227"/>
                  </a:lnTo>
                  <a:lnTo>
                    <a:pt x="350717" y="283181"/>
                  </a:lnTo>
                  <a:lnTo>
                    <a:pt x="321278" y="321278"/>
                  </a:lnTo>
                  <a:lnTo>
                    <a:pt x="283181" y="350717"/>
                  </a:lnTo>
                  <a:lnTo>
                    <a:pt x="238227" y="369700"/>
                  </a:lnTo>
                  <a:lnTo>
                    <a:pt x="188214" y="376427"/>
                  </a:lnTo>
                  <a:lnTo>
                    <a:pt x="138200" y="369700"/>
                  </a:lnTo>
                  <a:lnTo>
                    <a:pt x="93246" y="350717"/>
                  </a:lnTo>
                  <a:lnTo>
                    <a:pt x="55149" y="321278"/>
                  </a:lnTo>
                  <a:lnTo>
                    <a:pt x="25710" y="283181"/>
                  </a:lnTo>
                  <a:lnTo>
                    <a:pt x="6727" y="238227"/>
                  </a:lnTo>
                  <a:lnTo>
                    <a:pt x="0" y="188213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9179052" y="3521964"/>
            <a:ext cx="2467610" cy="1527175"/>
            <a:chOff x="9179052" y="3521964"/>
            <a:chExt cx="2467610" cy="1527175"/>
          </a:xfrm>
        </p:grpSpPr>
        <p:sp>
          <p:nvSpPr>
            <p:cNvPr id="24" name="object 24"/>
            <p:cNvSpPr/>
            <p:nvPr/>
          </p:nvSpPr>
          <p:spPr>
            <a:xfrm>
              <a:off x="9186672" y="3529584"/>
              <a:ext cx="2452370" cy="1511935"/>
            </a:xfrm>
            <a:custGeom>
              <a:avLst/>
              <a:gdLst/>
              <a:ahLst/>
              <a:cxnLst/>
              <a:rect l="l" t="t" r="r" b="b"/>
              <a:pathLst>
                <a:path w="2452370" h="1511935">
                  <a:moveTo>
                    <a:pt x="2200148" y="0"/>
                  </a:moveTo>
                  <a:lnTo>
                    <a:pt x="251968" y="0"/>
                  </a:lnTo>
                  <a:lnTo>
                    <a:pt x="206667" y="4058"/>
                  </a:lnTo>
                  <a:lnTo>
                    <a:pt x="164034" y="15759"/>
                  </a:lnTo>
                  <a:lnTo>
                    <a:pt x="124779" y="34393"/>
                  </a:lnTo>
                  <a:lnTo>
                    <a:pt x="89614" y="59248"/>
                  </a:lnTo>
                  <a:lnTo>
                    <a:pt x="59248" y="89614"/>
                  </a:lnTo>
                  <a:lnTo>
                    <a:pt x="34393" y="124779"/>
                  </a:lnTo>
                  <a:lnTo>
                    <a:pt x="15759" y="164034"/>
                  </a:lnTo>
                  <a:lnTo>
                    <a:pt x="4058" y="206667"/>
                  </a:lnTo>
                  <a:lnTo>
                    <a:pt x="0" y="251967"/>
                  </a:lnTo>
                  <a:lnTo>
                    <a:pt x="0" y="1259839"/>
                  </a:lnTo>
                  <a:lnTo>
                    <a:pt x="4058" y="1305140"/>
                  </a:lnTo>
                  <a:lnTo>
                    <a:pt x="15759" y="1347773"/>
                  </a:lnTo>
                  <a:lnTo>
                    <a:pt x="34393" y="1387028"/>
                  </a:lnTo>
                  <a:lnTo>
                    <a:pt x="59248" y="1422193"/>
                  </a:lnTo>
                  <a:lnTo>
                    <a:pt x="89614" y="1452559"/>
                  </a:lnTo>
                  <a:lnTo>
                    <a:pt x="124779" y="1477414"/>
                  </a:lnTo>
                  <a:lnTo>
                    <a:pt x="164034" y="1496048"/>
                  </a:lnTo>
                  <a:lnTo>
                    <a:pt x="206667" y="1507749"/>
                  </a:lnTo>
                  <a:lnTo>
                    <a:pt x="251968" y="1511808"/>
                  </a:lnTo>
                  <a:lnTo>
                    <a:pt x="2200148" y="1511808"/>
                  </a:lnTo>
                  <a:lnTo>
                    <a:pt x="2245448" y="1507749"/>
                  </a:lnTo>
                  <a:lnTo>
                    <a:pt x="2288081" y="1496048"/>
                  </a:lnTo>
                  <a:lnTo>
                    <a:pt x="2327336" y="1477414"/>
                  </a:lnTo>
                  <a:lnTo>
                    <a:pt x="2362501" y="1452559"/>
                  </a:lnTo>
                  <a:lnTo>
                    <a:pt x="2392867" y="1422193"/>
                  </a:lnTo>
                  <a:lnTo>
                    <a:pt x="2417722" y="1387028"/>
                  </a:lnTo>
                  <a:lnTo>
                    <a:pt x="2436356" y="1347773"/>
                  </a:lnTo>
                  <a:lnTo>
                    <a:pt x="2448057" y="1305140"/>
                  </a:lnTo>
                  <a:lnTo>
                    <a:pt x="2452116" y="1259839"/>
                  </a:lnTo>
                  <a:lnTo>
                    <a:pt x="2452116" y="251967"/>
                  </a:lnTo>
                  <a:lnTo>
                    <a:pt x="2448057" y="206667"/>
                  </a:lnTo>
                  <a:lnTo>
                    <a:pt x="2436356" y="164034"/>
                  </a:lnTo>
                  <a:lnTo>
                    <a:pt x="2417722" y="124779"/>
                  </a:lnTo>
                  <a:lnTo>
                    <a:pt x="2392867" y="89614"/>
                  </a:lnTo>
                  <a:lnTo>
                    <a:pt x="2362501" y="59248"/>
                  </a:lnTo>
                  <a:lnTo>
                    <a:pt x="2327336" y="34393"/>
                  </a:lnTo>
                  <a:lnTo>
                    <a:pt x="2288081" y="15759"/>
                  </a:lnTo>
                  <a:lnTo>
                    <a:pt x="2245448" y="4058"/>
                  </a:lnTo>
                  <a:lnTo>
                    <a:pt x="2200148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86672" y="3529584"/>
              <a:ext cx="2452370" cy="1511935"/>
            </a:xfrm>
            <a:custGeom>
              <a:avLst/>
              <a:gdLst/>
              <a:ahLst/>
              <a:cxnLst/>
              <a:rect l="l" t="t" r="r" b="b"/>
              <a:pathLst>
                <a:path w="2452370" h="1511935">
                  <a:moveTo>
                    <a:pt x="0" y="251967"/>
                  </a:moveTo>
                  <a:lnTo>
                    <a:pt x="4058" y="206667"/>
                  </a:lnTo>
                  <a:lnTo>
                    <a:pt x="15759" y="164034"/>
                  </a:lnTo>
                  <a:lnTo>
                    <a:pt x="34393" y="124779"/>
                  </a:lnTo>
                  <a:lnTo>
                    <a:pt x="59248" y="89614"/>
                  </a:lnTo>
                  <a:lnTo>
                    <a:pt x="89614" y="59248"/>
                  </a:lnTo>
                  <a:lnTo>
                    <a:pt x="124779" y="34393"/>
                  </a:lnTo>
                  <a:lnTo>
                    <a:pt x="164034" y="15759"/>
                  </a:lnTo>
                  <a:lnTo>
                    <a:pt x="206667" y="4058"/>
                  </a:lnTo>
                  <a:lnTo>
                    <a:pt x="251968" y="0"/>
                  </a:lnTo>
                  <a:lnTo>
                    <a:pt x="2200148" y="0"/>
                  </a:lnTo>
                  <a:lnTo>
                    <a:pt x="2245448" y="4058"/>
                  </a:lnTo>
                  <a:lnTo>
                    <a:pt x="2288081" y="15759"/>
                  </a:lnTo>
                  <a:lnTo>
                    <a:pt x="2327336" y="34393"/>
                  </a:lnTo>
                  <a:lnTo>
                    <a:pt x="2362501" y="59248"/>
                  </a:lnTo>
                  <a:lnTo>
                    <a:pt x="2392867" y="89614"/>
                  </a:lnTo>
                  <a:lnTo>
                    <a:pt x="2417722" y="124779"/>
                  </a:lnTo>
                  <a:lnTo>
                    <a:pt x="2436356" y="164034"/>
                  </a:lnTo>
                  <a:lnTo>
                    <a:pt x="2448057" y="206667"/>
                  </a:lnTo>
                  <a:lnTo>
                    <a:pt x="2452116" y="251967"/>
                  </a:lnTo>
                  <a:lnTo>
                    <a:pt x="2452116" y="1259839"/>
                  </a:lnTo>
                  <a:lnTo>
                    <a:pt x="2448057" y="1305140"/>
                  </a:lnTo>
                  <a:lnTo>
                    <a:pt x="2436356" y="1347773"/>
                  </a:lnTo>
                  <a:lnTo>
                    <a:pt x="2417722" y="1387028"/>
                  </a:lnTo>
                  <a:lnTo>
                    <a:pt x="2392867" y="1422193"/>
                  </a:lnTo>
                  <a:lnTo>
                    <a:pt x="2362501" y="1452559"/>
                  </a:lnTo>
                  <a:lnTo>
                    <a:pt x="2327336" y="1477414"/>
                  </a:lnTo>
                  <a:lnTo>
                    <a:pt x="2288081" y="1496048"/>
                  </a:lnTo>
                  <a:lnTo>
                    <a:pt x="2245448" y="1507749"/>
                  </a:lnTo>
                  <a:lnTo>
                    <a:pt x="2200148" y="1511808"/>
                  </a:lnTo>
                  <a:lnTo>
                    <a:pt x="251968" y="1511808"/>
                  </a:lnTo>
                  <a:lnTo>
                    <a:pt x="206667" y="1507749"/>
                  </a:lnTo>
                  <a:lnTo>
                    <a:pt x="164034" y="1496048"/>
                  </a:lnTo>
                  <a:lnTo>
                    <a:pt x="124779" y="1477414"/>
                  </a:lnTo>
                  <a:lnTo>
                    <a:pt x="89614" y="1452559"/>
                  </a:lnTo>
                  <a:lnTo>
                    <a:pt x="59248" y="1422193"/>
                  </a:lnTo>
                  <a:lnTo>
                    <a:pt x="34393" y="1387028"/>
                  </a:lnTo>
                  <a:lnTo>
                    <a:pt x="15759" y="1347773"/>
                  </a:lnTo>
                  <a:lnTo>
                    <a:pt x="4058" y="1305140"/>
                  </a:lnTo>
                  <a:lnTo>
                    <a:pt x="0" y="1259839"/>
                  </a:lnTo>
                  <a:lnTo>
                    <a:pt x="0" y="251967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573006" y="3854957"/>
            <a:ext cx="168211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ready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the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splitting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X,y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(train,test)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748" y="269747"/>
            <a:ext cx="11279505" cy="5023485"/>
            <a:chOff x="650748" y="269747"/>
            <a:chExt cx="11279505" cy="5023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748" y="269747"/>
              <a:ext cx="11279124" cy="43738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49112" y="4643627"/>
              <a:ext cx="303530" cy="641985"/>
            </a:xfrm>
            <a:custGeom>
              <a:avLst/>
              <a:gdLst/>
              <a:ahLst/>
              <a:cxnLst/>
              <a:rect l="l" t="t" r="r" b="b"/>
              <a:pathLst>
                <a:path w="303529" h="641985">
                  <a:moveTo>
                    <a:pt x="227457" y="0"/>
                  </a:moveTo>
                  <a:lnTo>
                    <a:pt x="75818" y="0"/>
                  </a:lnTo>
                  <a:lnTo>
                    <a:pt x="75818" y="489966"/>
                  </a:lnTo>
                  <a:lnTo>
                    <a:pt x="0" y="489966"/>
                  </a:lnTo>
                  <a:lnTo>
                    <a:pt x="151637" y="641604"/>
                  </a:lnTo>
                  <a:lnTo>
                    <a:pt x="303275" y="489966"/>
                  </a:lnTo>
                  <a:lnTo>
                    <a:pt x="227457" y="489966"/>
                  </a:lnTo>
                  <a:lnTo>
                    <a:pt x="227457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49112" y="4643627"/>
              <a:ext cx="303530" cy="641985"/>
            </a:xfrm>
            <a:custGeom>
              <a:avLst/>
              <a:gdLst/>
              <a:ahLst/>
              <a:cxnLst/>
              <a:rect l="l" t="t" r="r" b="b"/>
              <a:pathLst>
                <a:path w="303529" h="641985">
                  <a:moveTo>
                    <a:pt x="0" y="489966"/>
                  </a:moveTo>
                  <a:lnTo>
                    <a:pt x="75818" y="489966"/>
                  </a:lnTo>
                  <a:lnTo>
                    <a:pt x="75818" y="0"/>
                  </a:lnTo>
                  <a:lnTo>
                    <a:pt x="227457" y="0"/>
                  </a:lnTo>
                  <a:lnTo>
                    <a:pt x="227457" y="489966"/>
                  </a:lnTo>
                  <a:lnTo>
                    <a:pt x="303275" y="489966"/>
                  </a:lnTo>
                  <a:lnTo>
                    <a:pt x="151637" y="641604"/>
                  </a:lnTo>
                  <a:lnTo>
                    <a:pt x="0" y="489966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03472" y="5190490"/>
            <a:ext cx="5923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Treating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imbalance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(using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20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ADASYN)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07964" y="5681471"/>
            <a:ext cx="352425" cy="527685"/>
            <a:chOff x="5807964" y="5681471"/>
            <a:chExt cx="352425" cy="527685"/>
          </a:xfrm>
        </p:grpSpPr>
        <p:sp>
          <p:nvSpPr>
            <p:cNvPr id="8" name="object 8"/>
            <p:cNvSpPr/>
            <p:nvPr/>
          </p:nvSpPr>
          <p:spPr>
            <a:xfrm>
              <a:off x="5815584" y="5689091"/>
              <a:ext cx="337185" cy="512445"/>
            </a:xfrm>
            <a:custGeom>
              <a:avLst/>
              <a:gdLst/>
              <a:ahLst/>
              <a:cxnLst/>
              <a:rect l="l" t="t" r="r" b="b"/>
              <a:pathLst>
                <a:path w="337185" h="512445">
                  <a:moveTo>
                    <a:pt x="252602" y="0"/>
                  </a:moveTo>
                  <a:lnTo>
                    <a:pt x="84200" y="0"/>
                  </a:lnTo>
                  <a:lnTo>
                    <a:pt x="84200" y="343662"/>
                  </a:lnTo>
                  <a:lnTo>
                    <a:pt x="0" y="343662"/>
                  </a:lnTo>
                  <a:lnTo>
                    <a:pt x="168401" y="512064"/>
                  </a:lnTo>
                  <a:lnTo>
                    <a:pt x="336803" y="343662"/>
                  </a:lnTo>
                  <a:lnTo>
                    <a:pt x="252602" y="343662"/>
                  </a:lnTo>
                  <a:lnTo>
                    <a:pt x="252602" y="0"/>
                  </a:lnTo>
                  <a:close/>
                </a:path>
              </a:pathLst>
            </a:custGeom>
            <a:solidFill>
              <a:srgbClr val="00C5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15584" y="5689091"/>
              <a:ext cx="337185" cy="512445"/>
            </a:xfrm>
            <a:custGeom>
              <a:avLst/>
              <a:gdLst/>
              <a:ahLst/>
              <a:cxnLst/>
              <a:rect l="l" t="t" r="r" b="b"/>
              <a:pathLst>
                <a:path w="337185" h="512445">
                  <a:moveTo>
                    <a:pt x="0" y="343662"/>
                  </a:moveTo>
                  <a:lnTo>
                    <a:pt x="84200" y="343662"/>
                  </a:lnTo>
                  <a:lnTo>
                    <a:pt x="84200" y="0"/>
                  </a:lnTo>
                  <a:lnTo>
                    <a:pt x="252602" y="0"/>
                  </a:lnTo>
                  <a:lnTo>
                    <a:pt x="252602" y="343662"/>
                  </a:lnTo>
                  <a:lnTo>
                    <a:pt x="336803" y="343662"/>
                  </a:lnTo>
                  <a:lnTo>
                    <a:pt x="168401" y="512064"/>
                  </a:lnTo>
                  <a:lnTo>
                    <a:pt x="0" y="343662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65750" y="6228079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3663" y="5767222"/>
            <a:ext cx="5899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11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364" y="176784"/>
            <a:ext cx="7516368" cy="154685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221738" y="400888"/>
            <a:ext cx="661415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MODELLING</a:t>
            </a:r>
            <a:r>
              <a:rPr sz="5400" spc="-20" dirty="0">
                <a:solidFill>
                  <a:srgbClr val="FFFFFF"/>
                </a:solidFill>
              </a:rPr>
              <a:t> </a:t>
            </a:r>
            <a:r>
              <a:rPr sz="5400" spc="-150" dirty="0">
                <a:solidFill>
                  <a:srgbClr val="FFFFFF"/>
                </a:solidFill>
              </a:rPr>
              <a:t>STATS</a:t>
            </a:r>
            <a:endParaRPr sz="5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94257" y="1377441"/>
          <a:ext cx="9504044" cy="3343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8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F1-Score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Specificity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5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84.7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66.5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54.8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84.1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67.4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56.3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Tree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88.8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56.5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41.4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80.0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84.3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89.1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77.6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83.6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90.6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100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Forests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80.0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84.3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41.1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b="1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b="1" u="sng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SMOTE)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87.4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85.2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(default</a:t>
                      </a:r>
                      <a:r>
                        <a:rPr sz="14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ADASYN)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89.1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86.7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84.4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1400" b="1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Tuned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89.6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87.4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85.2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99.9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55675" y="5267325"/>
            <a:ext cx="108750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i.e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modelling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default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SMOTE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Hyper-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tuned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giving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same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further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8133" y="441769"/>
            <a:ext cx="3557904" cy="1823085"/>
            <a:chOff x="1068133" y="441769"/>
            <a:chExt cx="3557904" cy="1823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896" y="446531"/>
              <a:ext cx="3547871" cy="18135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72896" y="446531"/>
              <a:ext cx="3548379" cy="1813560"/>
            </a:xfrm>
            <a:custGeom>
              <a:avLst/>
              <a:gdLst/>
              <a:ahLst/>
              <a:cxnLst/>
              <a:rect l="l" t="t" r="r" b="b"/>
              <a:pathLst>
                <a:path w="3548379" h="1813560">
                  <a:moveTo>
                    <a:pt x="3501770" y="0"/>
                  </a:moveTo>
                  <a:lnTo>
                    <a:pt x="46126" y="0"/>
                  </a:lnTo>
                  <a:lnTo>
                    <a:pt x="35648" y="0"/>
                  </a:lnTo>
                  <a:lnTo>
                    <a:pt x="27254" y="3175"/>
                  </a:lnTo>
                  <a:lnTo>
                    <a:pt x="20967" y="6222"/>
                  </a:lnTo>
                  <a:lnTo>
                    <a:pt x="12585" y="9397"/>
                  </a:lnTo>
                  <a:lnTo>
                    <a:pt x="8381" y="15747"/>
                  </a:lnTo>
                  <a:lnTo>
                    <a:pt x="4190" y="20446"/>
                  </a:lnTo>
                  <a:lnTo>
                    <a:pt x="0" y="26669"/>
                  </a:lnTo>
                  <a:lnTo>
                    <a:pt x="0" y="34543"/>
                  </a:lnTo>
                  <a:lnTo>
                    <a:pt x="0" y="1631314"/>
                  </a:lnTo>
                  <a:lnTo>
                    <a:pt x="0" y="1639062"/>
                  </a:lnTo>
                  <a:lnTo>
                    <a:pt x="4190" y="1645412"/>
                  </a:lnTo>
                  <a:lnTo>
                    <a:pt x="8381" y="1650110"/>
                  </a:lnTo>
                  <a:lnTo>
                    <a:pt x="12585" y="1656460"/>
                  </a:lnTo>
                  <a:lnTo>
                    <a:pt x="20967" y="1659508"/>
                  </a:lnTo>
                  <a:lnTo>
                    <a:pt x="27254" y="1662683"/>
                  </a:lnTo>
                  <a:lnTo>
                    <a:pt x="35648" y="1665858"/>
                  </a:lnTo>
                  <a:lnTo>
                    <a:pt x="46126" y="1665858"/>
                  </a:lnTo>
                  <a:lnTo>
                    <a:pt x="496950" y="1665858"/>
                  </a:lnTo>
                  <a:lnTo>
                    <a:pt x="681481" y="1804162"/>
                  </a:lnTo>
                  <a:lnTo>
                    <a:pt x="687704" y="1807337"/>
                  </a:lnTo>
                  <a:lnTo>
                    <a:pt x="696214" y="1810384"/>
                  </a:lnTo>
                  <a:lnTo>
                    <a:pt x="704596" y="1813559"/>
                  </a:lnTo>
                  <a:lnTo>
                    <a:pt x="712978" y="1813559"/>
                  </a:lnTo>
                  <a:lnTo>
                    <a:pt x="721360" y="1813559"/>
                  </a:lnTo>
                  <a:lnTo>
                    <a:pt x="729741" y="1810384"/>
                  </a:lnTo>
                  <a:lnTo>
                    <a:pt x="738123" y="1807337"/>
                  </a:lnTo>
                  <a:lnTo>
                    <a:pt x="744347" y="1804162"/>
                  </a:lnTo>
                  <a:lnTo>
                    <a:pt x="928878" y="1665858"/>
                  </a:lnTo>
                  <a:lnTo>
                    <a:pt x="3501770" y="1665858"/>
                  </a:lnTo>
                  <a:lnTo>
                    <a:pt x="3512184" y="1665858"/>
                  </a:lnTo>
                  <a:lnTo>
                    <a:pt x="3520566" y="1662683"/>
                  </a:lnTo>
                  <a:lnTo>
                    <a:pt x="3526916" y="1659508"/>
                  </a:lnTo>
                  <a:lnTo>
                    <a:pt x="3535299" y="1656460"/>
                  </a:lnTo>
                  <a:lnTo>
                    <a:pt x="3539490" y="1650110"/>
                  </a:lnTo>
                  <a:lnTo>
                    <a:pt x="3543680" y="1645412"/>
                  </a:lnTo>
                  <a:lnTo>
                    <a:pt x="3547871" y="1639062"/>
                  </a:lnTo>
                  <a:lnTo>
                    <a:pt x="3547871" y="1631314"/>
                  </a:lnTo>
                  <a:lnTo>
                    <a:pt x="3547871" y="34543"/>
                  </a:lnTo>
                  <a:lnTo>
                    <a:pt x="3547871" y="26669"/>
                  </a:lnTo>
                  <a:lnTo>
                    <a:pt x="3543680" y="20446"/>
                  </a:lnTo>
                  <a:lnTo>
                    <a:pt x="3539490" y="15747"/>
                  </a:lnTo>
                  <a:lnTo>
                    <a:pt x="3535299" y="9397"/>
                  </a:lnTo>
                  <a:lnTo>
                    <a:pt x="3526916" y="6222"/>
                  </a:lnTo>
                  <a:lnTo>
                    <a:pt x="3520566" y="3175"/>
                  </a:lnTo>
                  <a:lnTo>
                    <a:pt x="3512184" y="0"/>
                  </a:lnTo>
                  <a:lnTo>
                    <a:pt x="350177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1684" y="976883"/>
              <a:ext cx="3128772" cy="85343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1867" rIns="0" bIns="0" rtlCol="0">
            <a:spAutoFit/>
          </a:bodyPr>
          <a:lstStyle/>
          <a:p>
            <a:pPr marL="136779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Model</a:t>
            </a:r>
            <a:r>
              <a:rPr sz="2800" spc="-5" dirty="0"/>
              <a:t> </a:t>
            </a:r>
            <a:r>
              <a:rPr sz="2800" spc="-10" dirty="0"/>
              <a:t>Reflection</a:t>
            </a:r>
            <a:endParaRPr sz="28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463" y="2185415"/>
            <a:ext cx="4597908" cy="40538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3339" y="2284222"/>
            <a:ext cx="4260850" cy="37788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09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7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accuracy,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ROC,</a:t>
            </a:r>
            <a:r>
              <a:rPr sz="1700" spc="9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precision</a:t>
            </a:r>
            <a:r>
              <a:rPr sz="1700" spc="9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7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sz="1700" spc="114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models,</a:t>
            </a:r>
            <a:r>
              <a:rPr sz="1700" spc="11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700" spc="10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700" spc="12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consider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XGBOOST</a:t>
            </a:r>
            <a:r>
              <a:rPr sz="1700" spc="204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(Hyper-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parameter</a:t>
            </a:r>
            <a:r>
              <a:rPr sz="1700" spc="204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Tuning)</a:t>
            </a:r>
            <a:r>
              <a:rPr sz="1700" spc="215" dirty="0">
                <a:solidFill>
                  <a:srgbClr val="FFFFFF"/>
                </a:solidFill>
                <a:latin typeface="Times New Roman"/>
                <a:cs typeface="Times New Roman"/>
              </a:rPr>
              <a:t>  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SMOTE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7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17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 model.</a:t>
            </a: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ts val="1835"/>
              </a:lnSpc>
              <a:spcBef>
                <a:spcPts val="600"/>
              </a:spcBef>
            </a:pP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700" u="sng" spc="1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test</a:t>
            </a:r>
            <a:r>
              <a:rPr sz="1700" u="sng" spc="1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accuracy</a:t>
            </a:r>
            <a:r>
              <a:rPr sz="1700" u="sng" spc="1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3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99.9%,</a:t>
            </a:r>
            <a:r>
              <a:rPr sz="1700" u="sng" spc="1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recall</a:t>
            </a:r>
            <a:r>
              <a:rPr sz="1700" u="sng" spc="1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89.6%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and</a:t>
            </a:r>
            <a:endParaRPr sz="1700">
              <a:latin typeface="Times New Roman"/>
              <a:cs typeface="Times New Roman"/>
            </a:endParaRPr>
          </a:p>
          <a:p>
            <a:pPr marL="12700" algn="just">
              <a:lnSpc>
                <a:spcPts val="1835"/>
              </a:lnSpc>
            </a:pP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ROC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-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99.8%</a:t>
            </a:r>
            <a:r>
              <a:rPr sz="1700" u="sng" spc="-3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5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80000"/>
              </a:lnSpc>
              <a:spcBef>
                <a:spcPts val="1010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7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3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89.6%,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7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highest</a:t>
            </a:r>
            <a:r>
              <a:rPr sz="1700" spc="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among</a:t>
            </a:r>
            <a:r>
              <a:rPr sz="17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all</a:t>
            </a:r>
            <a:r>
              <a:rPr sz="17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17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models.</a:t>
            </a:r>
            <a:r>
              <a:rPr sz="1700" spc="1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Since</a:t>
            </a:r>
            <a:r>
              <a:rPr sz="1700" spc="-10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our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buisness</a:t>
            </a:r>
            <a:r>
              <a:rPr sz="1700" u="sng" spc="10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objective</a:t>
            </a:r>
            <a:r>
              <a:rPr sz="1700" u="sng" spc="1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sz="1700" u="sng" spc="10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important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spc="-2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700" spc="-25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identify fraudulent transaction than the </a:t>
            </a:r>
            <a:r>
              <a:rPr sz="1700" u="sng" spc="-2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non-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fraudulent</a:t>
            </a:r>
            <a:r>
              <a:rPr sz="1700" u="sng" spc="9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transaction</a:t>
            </a:r>
            <a:r>
              <a:rPr sz="1700" u="sng" spc="10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accurately.</a:t>
            </a:r>
            <a:r>
              <a:rPr sz="1700" spc="95" dirty="0">
                <a:solidFill>
                  <a:srgbClr val="44FFF5"/>
                </a:solidFill>
                <a:latin typeface="Times New Roman"/>
                <a:cs typeface="Times New Roman"/>
              </a:rPr>
              <a:t> 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High</a:t>
            </a:r>
            <a:r>
              <a:rPr sz="1700" spc="100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recall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means</a:t>
            </a:r>
            <a:r>
              <a:rPr sz="1700" spc="2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correctly</a:t>
            </a:r>
            <a:r>
              <a:rPr sz="1700" spc="3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sz="1700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almost</a:t>
            </a:r>
            <a:r>
              <a:rPr sz="1700" spc="3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7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transaction.</a:t>
            </a:r>
            <a:endParaRPr sz="1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80000"/>
              </a:lnSpc>
              <a:spcBef>
                <a:spcPts val="1005"/>
              </a:spcBef>
            </a:pP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1700" spc="21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XGBOOST</a:t>
            </a:r>
            <a:r>
              <a:rPr sz="1700" u="sng" spc="204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(Hyperparameter</a:t>
            </a:r>
            <a:r>
              <a:rPr sz="1700" u="sng" spc="204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700" u="sng" spc="-1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Tuning)</a:t>
            </a:r>
            <a:r>
              <a:rPr sz="1700" spc="-10" dirty="0">
                <a:solidFill>
                  <a:srgbClr val="44FFF5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model</a:t>
            </a:r>
            <a:r>
              <a:rPr sz="1700" u="sng" spc="24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1700" u="sng" spc="235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SMOTE</a:t>
            </a:r>
            <a:r>
              <a:rPr sz="1700" u="sng" spc="24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700" u="sng" spc="250" dirty="0">
                <a:solidFill>
                  <a:srgbClr val="44FFF5"/>
                </a:solidFill>
                <a:uFill>
                  <a:solidFill>
                    <a:srgbClr val="44FFF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7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chosen</a:t>
            </a:r>
            <a:r>
              <a:rPr sz="1700" spc="2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sz="1700" spc="2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Times New Roman"/>
                <a:cs typeface="Times New Roman"/>
              </a:rPr>
              <a:t>its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sz="1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FFFFFF"/>
                </a:solidFill>
                <a:latin typeface="Times New Roman"/>
                <a:cs typeface="Times New Roman"/>
              </a:rPr>
              <a:t>Recall</a:t>
            </a:r>
            <a:r>
              <a:rPr sz="1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imes New Roman"/>
                <a:cs typeface="Times New Roman"/>
              </a:rPr>
              <a:t>metric.</a:t>
            </a:r>
            <a:endParaRPr sz="17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77740" y="318515"/>
            <a:ext cx="7065645" cy="6094730"/>
            <a:chOff x="4777740" y="318515"/>
            <a:chExt cx="7065645" cy="60947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7740" y="318515"/>
              <a:ext cx="7065263" cy="60944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1080" y="371855"/>
              <a:ext cx="6958583" cy="59877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00800" y="5720080"/>
              <a:ext cx="826135" cy="427990"/>
            </a:xfrm>
            <a:custGeom>
              <a:avLst/>
              <a:gdLst/>
              <a:ahLst/>
              <a:cxnLst/>
              <a:rect l="l" t="t" r="r" b="b"/>
              <a:pathLst>
                <a:path w="826134" h="427989">
                  <a:moveTo>
                    <a:pt x="826008" y="0"/>
                  </a:moveTo>
                  <a:lnTo>
                    <a:pt x="0" y="0"/>
                  </a:lnTo>
                  <a:lnTo>
                    <a:pt x="0" y="53340"/>
                  </a:lnTo>
                  <a:lnTo>
                    <a:pt x="0" y="374650"/>
                  </a:lnTo>
                  <a:lnTo>
                    <a:pt x="0" y="427990"/>
                  </a:lnTo>
                  <a:lnTo>
                    <a:pt x="826008" y="427990"/>
                  </a:lnTo>
                  <a:lnTo>
                    <a:pt x="826008" y="374650"/>
                  </a:lnTo>
                  <a:lnTo>
                    <a:pt x="53467" y="374650"/>
                  </a:lnTo>
                  <a:lnTo>
                    <a:pt x="53467" y="53340"/>
                  </a:lnTo>
                  <a:lnTo>
                    <a:pt x="772414" y="53340"/>
                  </a:lnTo>
                  <a:lnTo>
                    <a:pt x="772414" y="374205"/>
                  </a:lnTo>
                  <a:lnTo>
                    <a:pt x="826008" y="374205"/>
                  </a:lnTo>
                  <a:lnTo>
                    <a:pt x="826008" y="53340"/>
                  </a:lnTo>
                  <a:lnTo>
                    <a:pt x="826008" y="53022"/>
                  </a:lnTo>
                  <a:lnTo>
                    <a:pt x="8260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0" y="5719571"/>
              <a:ext cx="826135" cy="428625"/>
            </a:xfrm>
            <a:custGeom>
              <a:avLst/>
              <a:gdLst/>
              <a:ahLst/>
              <a:cxnLst/>
              <a:rect l="l" t="t" r="r" b="b"/>
              <a:pathLst>
                <a:path w="826134" h="428625">
                  <a:moveTo>
                    <a:pt x="0" y="0"/>
                  </a:moveTo>
                  <a:lnTo>
                    <a:pt x="826007" y="0"/>
                  </a:lnTo>
                  <a:lnTo>
                    <a:pt x="826007" y="428243"/>
                  </a:lnTo>
                  <a:lnTo>
                    <a:pt x="0" y="428243"/>
                  </a:lnTo>
                  <a:lnTo>
                    <a:pt x="0" y="0"/>
                  </a:lnTo>
                  <a:close/>
                </a:path>
                <a:path w="826134" h="428625">
                  <a:moveTo>
                    <a:pt x="53466" y="53530"/>
                  </a:moveTo>
                  <a:lnTo>
                    <a:pt x="53466" y="374713"/>
                  </a:lnTo>
                  <a:lnTo>
                    <a:pt x="772414" y="374713"/>
                  </a:lnTo>
                  <a:lnTo>
                    <a:pt x="772414" y="53530"/>
                  </a:lnTo>
                  <a:lnTo>
                    <a:pt x="53466" y="53530"/>
                  </a:lnTo>
                  <a:close/>
                </a:path>
              </a:pathLst>
            </a:custGeom>
            <a:ln w="15240">
              <a:solidFill>
                <a:srgbClr val="0091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762"/>
            <a:ext cx="12201525" cy="2195195"/>
            <a:chOff x="-4762" y="-4762"/>
            <a:chExt cx="12201525" cy="21951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21854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185670"/>
            </a:xfrm>
            <a:custGeom>
              <a:avLst/>
              <a:gdLst/>
              <a:ahLst/>
              <a:cxnLst/>
              <a:rect l="l" t="t" r="r" b="b"/>
              <a:pathLst>
                <a:path w="12192000" h="2185670">
                  <a:moveTo>
                    <a:pt x="12192000" y="0"/>
                  </a:moveTo>
                  <a:lnTo>
                    <a:pt x="0" y="0"/>
                  </a:lnTo>
                  <a:lnTo>
                    <a:pt x="0" y="1887092"/>
                  </a:lnTo>
                  <a:lnTo>
                    <a:pt x="1996058" y="1887092"/>
                  </a:lnTo>
                  <a:lnTo>
                    <a:pt x="2377059" y="2172716"/>
                  </a:lnTo>
                  <a:lnTo>
                    <a:pt x="2385441" y="2175891"/>
                  </a:lnTo>
                  <a:lnTo>
                    <a:pt x="2398141" y="2180716"/>
                  </a:lnTo>
                  <a:lnTo>
                    <a:pt x="2410841" y="2185416"/>
                  </a:lnTo>
                  <a:lnTo>
                    <a:pt x="2421509" y="2185416"/>
                  </a:lnTo>
                  <a:lnTo>
                    <a:pt x="2434209" y="2185416"/>
                  </a:lnTo>
                  <a:lnTo>
                    <a:pt x="2444750" y="2180716"/>
                  </a:lnTo>
                  <a:lnTo>
                    <a:pt x="2457450" y="2175891"/>
                  </a:lnTo>
                  <a:lnTo>
                    <a:pt x="2465959" y="2172716"/>
                  </a:lnTo>
                  <a:lnTo>
                    <a:pt x="2846959" y="1887092"/>
                  </a:lnTo>
                  <a:lnTo>
                    <a:pt x="12192000" y="1887092"/>
                  </a:lnTo>
                  <a:lnTo>
                    <a:pt x="12192000" y="0"/>
                  </a:lnTo>
                  <a:close/>
                </a:path>
              </a:pathLst>
            </a:custGeom>
            <a:ln w="9144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6016" y="480059"/>
              <a:ext cx="5839967" cy="128016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8180" rIns="0" bIns="0" rtlCol="0">
            <a:spAutoFit/>
          </a:bodyPr>
          <a:lstStyle/>
          <a:p>
            <a:pPr marL="338264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Cost</a:t>
            </a:r>
            <a:r>
              <a:rPr sz="4400" spc="-15" dirty="0"/>
              <a:t> </a:t>
            </a:r>
            <a:r>
              <a:rPr sz="4400" dirty="0"/>
              <a:t>Benefit</a:t>
            </a:r>
            <a:r>
              <a:rPr sz="4400" spc="-265" dirty="0"/>
              <a:t> </a:t>
            </a:r>
            <a:r>
              <a:rPr sz="4400" spc="-10" dirty="0"/>
              <a:t>Analysis</a:t>
            </a:r>
            <a:endParaRPr sz="4400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3247" y="1895855"/>
            <a:ext cx="3166872" cy="74676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26767" y="2017903"/>
            <a:ext cx="271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1(on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Whole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data)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01256" y="3622547"/>
            <a:ext cx="3386328" cy="7467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25030" y="3744544"/>
            <a:ext cx="2938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2(After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Modelling)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9288" y="2360676"/>
            <a:ext cx="11678920" cy="4183379"/>
            <a:chOff x="399288" y="2360676"/>
            <a:chExt cx="11678920" cy="41833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288" y="2360676"/>
              <a:ext cx="4965192" cy="18714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628" y="2414016"/>
              <a:ext cx="4858512" cy="17647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09516" y="4258055"/>
              <a:ext cx="7568184" cy="2286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2855" y="4311396"/>
              <a:ext cx="7461504" cy="21793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0"/>
            <a:ext cx="9931908" cy="201472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679" rIns="0" bIns="0" rtlCol="0">
            <a:spAutoFit/>
          </a:bodyPr>
          <a:lstStyle/>
          <a:p>
            <a:pPr marL="3524250" marR="5080" indent="-223647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114" dirty="0"/>
              <a:t> </a:t>
            </a:r>
            <a:r>
              <a:rPr dirty="0"/>
              <a:t>:</a:t>
            </a:r>
            <a:r>
              <a:rPr spc="-120" dirty="0"/>
              <a:t> </a:t>
            </a:r>
            <a:r>
              <a:rPr dirty="0"/>
              <a:t>Profit</a:t>
            </a:r>
            <a:r>
              <a:rPr spc="-110" dirty="0"/>
              <a:t> </a:t>
            </a:r>
            <a:r>
              <a:rPr dirty="0"/>
              <a:t>predicted</a:t>
            </a:r>
            <a:r>
              <a:rPr spc="-120" dirty="0"/>
              <a:t> </a:t>
            </a:r>
            <a:r>
              <a:rPr spc="-10" dirty="0"/>
              <a:t>after </a:t>
            </a:r>
            <a:r>
              <a:rPr dirty="0"/>
              <a:t>using</a:t>
            </a:r>
            <a:r>
              <a:rPr spc="-85" dirty="0"/>
              <a:t> </a:t>
            </a:r>
            <a:r>
              <a:rPr dirty="0"/>
              <a:t>ML</a:t>
            </a:r>
            <a:r>
              <a:rPr spc="-300" dirty="0"/>
              <a:t> </a:t>
            </a:r>
            <a:r>
              <a:rPr spc="-10" dirty="0"/>
              <a:t>models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23" y="3858767"/>
            <a:ext cx="2019300" cy="12222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2004" y="4077461"/>
            <a:ext cx="1632585" cy="9994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ts val="156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Before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r>
              <a:rPr sz="1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endParaRPr sz="1500">
              <a:latin typeface="Times New Roman"/>
              <a:cs typeface="Times New Roman"/>
            </a:endParaRPr>
          </a:p>
          <a:p>
            <a:pPr marL="85725" algn="ctr">
              <a:lnSpc>
                <a:spcPct val="100000"/>
              </a:lnSpc>
              <a:spcBef>
                <a:spcPts val="335"/>
              </a:spcBef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>
              <a:latin typeface="Times New Roman"/>
              <a:cs typeface="Times New Roman"/>
            </a:endParaRPr>
          </a:p>
          <a:p>
            <a:pPr marL="83185" algn="ctr">
              <a:lnSpc>
                <a:spcPct val="100000"/>
              </a:lnSpc>
              <a:spcBef>
                <a:spcPts val="36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213392.220.4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2764" y="3302508"/>
            <a:ext cx="370331" cy="3703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3311652"/>
            <a:ext cx="2019300" cy="12222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53536" y="3530345"/>
            <a:ext cx="1632585" cy="13169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635" algn="ctr">
              <a:lnSpc>
                <a:spcPct val="86300"/>
              </a:lnSpc>
              <a:spcBef>
                <a:spcPts val="345"/>
              </a:spcBef>
            </a:pP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support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per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fraudulent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detected</a:t>
            </a:r>
            <a:endParaRPr sz="1500">
              <a:latin typeface="Times New Roman"/>
              <a:cs typeface="Times New Roman"/>
            </a:endParaRPr>
          </a:p>
          <a:p>
            <a:pPr marL="3175" algn="ctr">
              <a:lnSpc>
                <a:spcPts val="1560"/>
              </a:lnSpc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607.6875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12564" y="2756916"/>
            <a:ext cx="370332" cy="3688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68823" y="2764535"/>
            <a:ext cx="2020824" cy="12222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22570" y="2982925"/>
            <a:ext cx="1710689" cy="119697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345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per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month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model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5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built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5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endParaRPr sz="150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  <a:spcBef>
                <a:spcPts val="360"/>
              </a:spcBef>
            </a:pPr>
            <a:r>
              <a:rPr sz="1500" spc="-5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150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35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$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9230.94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22364" y="2209800"/>
            <a:ext cx="370331" cy="36880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8623" y="2217420"/>
            <a:ext cx="2020824" cy="122224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532878" y="3027679"/>
            <a:ext cx="14624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8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15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Times New Roman"/>
                <a:cs typeface="Times New Roman"/>
              </a:rPr>
              <a:t>Deployed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933688" y="1341119"/>
            <a:ext cx="2575560" cy="1222375"/>
            <a:chOff x="8933688" y="1341119"/>
            <a:chExt cx="2575560" cy="1222375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33688" y="1662683"/>
              <a:ext cx="368807" cy="3703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88424" y="1341119"/>
              <a:ext cx="2020824" cy="12222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532878" y="1597019"/>
            <a:ext cx="3630295" cy="148844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228850">
              <a:lnSpc>
                <a:spcPct val="100000"/>
              </a:lnSpc>
              <a:spcBef>
                <a:spcPts val="515"/>
              </a:spcBef>
            </a:pPr>
            <a:r>
              <a:rPr sz="1800" b="1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Savings</a:t>
            </a:r>
            <a:endParaRPr sz="1800">
              <a:latin typeface="Times New Roman"/>
              <a:cs typeface="Times New Roman"/>
            </a:endParaRPr>
          </a:p>
          <a:p>
            <a:pPr marL="2285365">
              <a:lnSpc>
                <a:spcPct val="100000"/>
              </a:lnSpc>
              <a:spcBef>
                <a:spcPts val="420"/>
              </a:spcBef>
            </a:pP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1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00"/>
                </a:solidFill>
                <a:latin typeface="Times New Roman"/>
                <a:cs typeface="Times New Roman"/>
              </a:rPr>
              <a:t>$</a:t>
            </a:r>
            <a:r>
              <a:rPr sz="1800" b="1" spc="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00"/>
                </a:solidFill>
                <a:latin typeface="Times New Roman"/>
                <a:cs typeface="Times New Roman"/>
              </a:rPr>
              <a:t>204161.28</a:t>
            </a:r>
            <a:endParaRPr sz="1800">
              <a:latin typeface="Times New Roman"/>
              <a:cs typeface="Times New Roman"/>
            </a:endParaRPr>
          </a:p>
          <a:p>
            <a:pPr marL="12700" marR="2066289">
              <a:lnSpc>
                <a:spcPct val="86300"/>
              </a:lnSpc>
              <a:spcBef>
                <a:spcPts val="1700"/>
              </a:spcBef>
            </a:pP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Savings</a:t>
            </a:r>
            <a:r>
              <a:rPr sz="1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Cost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Incurred</a:t>
            </a:r>
            <a:r>
              <a:rPr sz="1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Before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ML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sz="1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9358" y="5306364"/>
            <a:ext cx="103644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marR="5080" indent="-45593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Hence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95.67%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drastic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decrease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paid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28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28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their</a:t>
            </a:r>
            <a:r>
              <a:rPr sz="28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28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2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28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8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784" y="1141475"/>
            <a:ext cx="11864340" cy="0"/>
          </a:xfrm>
          <a:custGeom>
            <a:avLst/>
            <a:gdLst/>
            <a:ahLst/>
            <a:cxnLst/>
            <a:rect l="l" t="t" r="r" b="b"/>
            <a:pathLst>
              <a:path w="11864340">
                <a:moveTo>
                  <a:pt x="0" y="0"/>
                </a:moveTo>
                <a:lnTo>
                  <a:pt x="11864340" y="0"/>
                </a:lnTo>
              </a:path>
            </a:pathLst>
          </a:custGeom>
          <a:ln w="15240">
            <a:solidFill>
              <a:srgbClr val="00C5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784" y="2237232"/>
            <a:ext cx="11864340" cy="0"/>
          </a:xfrm>
          <a:custGeom>
            <a:avLst/>
            <a:gdLst/>
            <a:ahLst/>
            <a:cxnLst/>
            <a:rect l="l" t="t" r="r" b="b"/>
            <a:pathLst>
              <a:path w="11864340">
                <a:moveTo>
                  <a:pt x="0" y="0"/>
                </a:moveTo>
                <a:lnTo>
                  <a:pt x="11864340" y="0"/>
                </a:lnTo>
              </a:path>
            </a:pathLst>
          </a:custGeom>
          <a:ln w="15240">
            <a:solidFill>
              <a:srgbClr val="00C5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784" y="3331464"/>
            <a:ext cx="11864340" cy="0"/>
          </a:xfrm>
          <a:custGeom>
            <a:avLst/>
            <a:gdLst/>
            <a:ahLst/>
            <a:cxnLst/>
            <a:rect l="l" t="t" r="r" b="b"/>
            <a:pathLst>
              <a:path w="11864340">
                <a:moveTo>
                  <a:pt x="0" y="0"/>
                </a:moveTo>
                <a:lnTo>
                  <a:pt x="11864340" y="0"/>
                </a:lnTo>
              </a:path>
            </a:pathLst>
          </a:custGeom>
          <a:ln w="15240">
            <a:solidFill>
              <a:srgbClr val="00C5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6784" y="4427220"/>
            <a:ext cx="11864340" cy="0"/>
          </a:xfrm>
          <a:custGeom>
            <a:avLst/>
            <a:gdLst/>
            <a:ahLst/>
            <a:cxnLst/>
            <a:rect l="l" t="t" r="r" b="b"/>
            <a:pathLst>
              <a:path w="11864340">
                <a:moveTo>
                  <a:pt x="0" y="0"/>
                </a:moveTo>
                <a:lnTo>
                  <a:pt x="11864340" y="0"/>
                </a:lnTo>
              </a:path>
            </a:pathLst>
          </a:custGeom>
          <a:ln w="15240">
            <a:solidFill>
              <a:srgbClr val="00C5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76784" y="5512053"/>
            <a:ext cx="11864340" cy="19050"/>
            <a:chOff x="176784" y="5512053"/>
            <a:chExt cx="11864340" cy="19050"/>
          </a:xfrm>
        </p:grpSpPr>
        <p:sp>
          <p:nvSpPr>
            <p:cNvPr id="7" name="object 7"/>
            <p:cNvSpPr/>
            <p:nvPr/>
          </p:nvSpPr>
          <p:spPr>
            <a:xfrm>
              <a:off x="230860" y="5512053"/>
              <a:ext cx="640080" cy="10795"/>
            </a:xfrm>
            <a:custGeom>
              <a:avLst/>
              <a:gdLst/>
              <a:ahLst/>
              <a:cxnLst/>
              <a:rect l="l" t="t" r="r" b="b"/>
              <a:pathLst>
                <a:path w="640080" h="10795">
                  <a:moveTo>
                    <a:pt x="64008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640080" y="10668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6784" y="5522975"/>
              <a:ext cx="11864340" cy="0"/>
            </a:xfrm>
            <a:custGeom>
              <a:avLst/>
              <a:gdLst/>
              <a:ahLst/>
              <a:cxnLst/>
              <a:rect l="l" t="t" r="r" b="b"/>
              <a:pathLst>
                <a:path w="11864340">
                  <a:moveTo>
                    <a:pt x="0" y="0"/>
                  </a:moveTo>
                  <a:lnTo>
                    <a:pt x="11864340" y="0"/>
                  </a:lnTo>
                </a:path>
              </a:pathLst>
            </a:custGeom>
            <a:ln w="15240">
              <a:solidFill>
                <a:srgbClr val="00C5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8338" y="1148841"/>
            <a:ext cx="11715750" cy="491871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0320" marR="381635" indent="201295">
              <a:lnSpc>
                <a:spcPct val="86300"/>
              </a:lnSpc>
              <a:spcBef>
                <a:spcPts val="395"/>
              </a:spcBef>
              <a:buSzPct val="88888"/>
              <a:buAutoNum type="arabicPeriod"/>
              <a:tabLst>
                <a:tab pos="22161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`hist_trans_avg_amt_24h`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Based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upon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past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spending pattern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derived`hist_trans_avg_amt_24h`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actually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average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spent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through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credit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card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holder's.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comparable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last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24hrs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v/s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past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data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gets</a:t>
            </a:r>
            <a:r>
              <a:rPr sz="18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increased</a:t>
            </a:r>
            <a:r>
              <a:rPr sz="18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ideal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800" u="sng" spc="-11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ALERT!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customer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confirming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</a:t>
            </a:r>
            <a:endParaRPr sz="1800">
              <a:latin typeface="Times New Roman"/>
              <a:cs typeface="Times New Roman"/>
            </a:endParaRPr>
          </a:p>
          <a:p>
            <a:pPr marL="20320" marR="189230" indent="201295" algn="just">
              <a:lnSpc>
                <a:spcPts val="1860"/>
              </a:lnSpc>
              <a:spcBef>
                <a:spcPts val="1185"/>
              </a:spcBef>
              <a:buSzPct val="88888"/>
              <a:buAutoNum type="arabicPeriod"/>
              <a:tabLst>
                <a:tab pos="22161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weekday</a:t>
            </a:r>
            <a:r>
              <a:rPr sz="1800" u="sng" spc="-6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Thursday,</a:t>
            </a:r>
            <a:r>
              <a:rPr sz="1800" u="sng" spc="-7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Saturday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Monday</a:t>
            </a:r>
            <a:r>
              <a:rPr sz="18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shows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weekday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Thursday,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Saturday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Monday.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banks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be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extra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cautious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high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specific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days</a:t>
            </a:r>
            <a:r>
              <a:rPr sz="1800" u="sng" spc="-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avoid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fraudulent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on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these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categories.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75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20320" marR="216535" indent="224790">
              <a:lnSpc>
                <a:spcPts val="1860"/>
              </a:lnSpc>
              <a:buSzPct val="88888"/>
              <a:buFont typeface="Tahoma"/>
              <a:buAutoNum type="arabicPeriod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`amt`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values.</a:t>
            </a:r>
            <a:r>
              <a:rPr sz="18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point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bank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notices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nature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higher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sz="18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regular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spending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pattern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cases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noticed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same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at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early</a:t>
            </a:r>
            <a:r>
              <a:rPr sz="18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stage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sz="18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sending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neccessary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alerts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customers.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5"/>
              </a:spcBef>
              <a:buAutoNum type="arabicPeriod"/>
            </a:pPr>
            <a:endParaRPr sz="1800">
              <a:latin typeface="Times New Roman"/>
              <a:cs typeface="Times New Roman"/>
            </a:endParaRPr>
          </a:p>
          <a:p>
            <a:pPr marL="12700" marR="5080" indent="195580">
              <a:lnSpc>
                <a:spcPct val="87700"/>
              </a:lnSpc>
              <a:spcBef>
                <a:spcPts val="5"/>
              </a:spcBef>
              <a:buSzPct val="87500"/>
              <a:buFont typeface="Tahoma"/>
              <a:buAutoNum type="arabicPeriod"/>
              <a:tabLst>
                <a:tab pos="208279" algn="l"/>
              </a:tabLst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fraudulent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transaction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customer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categories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home,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shopping_pos,</a:t>
            </a:r>
            <a:r>
              <a:rPr sz="1600" u="sng" spc="-7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grocery_pos,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health_fitness,</a:t>
            </a:r>
            <a:r>
              <a:rPr sz="1600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gas_transport</a:t>
            </a:r>
            <a:r>
              <a:rPr sz="1600" u="sng" spc="3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values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predicted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major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occurred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categories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customer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would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spend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large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transactional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amount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6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fraudsters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also</a:t>
            </a:r>
            <a:r>
              <a:rPr sz="16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follows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same</a:t>
            </a:r>
            <a:r>
              <a:rPr sz="16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trend.</a:t>
            </a:r>
            <a:r>
              <a:rPr sz="1600" u="sng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case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always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recommended to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bank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keep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eye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track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spend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amount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through</a:t>
            </a:r>
            <a:r>
              <a:rPr sz="1600" u="sng" spc="-5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FLASH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600" u="sng" spc="-9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600" u="sng" spc="-6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mentioning</a:t>
            </a:r>
            <a:r>
              <a:rPr sz="16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detailed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transaction</a:t>
            </a:r>
            <a:r>
              <a:rPr sz="16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history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600" u="sng" spc="-4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respective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credit</a:t>
            </a:r>
            <a:r>
              <a:rPr sz="1600" u="sng" spc="-3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card</a:t>
            </a:r>
            <a:r>
              <a:rPr sz="16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00"/>
                </a:solidFill>
                <a:latin typeface="Times New Roman"/>
                <a:cs typeface="Times New Roman"/>
              </a:rPr>
              <a:t>holde</a:t>
            </a:r>
            <a:r>
              <a:rPr sz="1600" spc="-10" dirty="0">
                <a:solidFill>
                  <a:srgbClr val="FFFF00"/>
                </a:solidFill>
                <a:latin typeface="Tahoma"/>
                <a:cs typeface="Tahoma"/>
              </a:rPr>
              <a:t>rs</a:t>
            </a:r>
            <a:r>
              <a:rPr sz="1400" spc="-10" dirty="0">
                <a:solidFill>
                  <a:srgbClr val="FFFF00"/>
                </a:solidFill>
                <a:latin typeface="Tahoma"/>
                <a:cs typeface="Tahoma"/>
              </a:rPr>
              <a:t>.</a:t>
            </a:r>
            <a:endParaRPr sz="1400">
              <a:latin typeface="Tahoma"/>
              <a:cs typeface="Tahoma"/>
            </a:endParaRPr>
          </a:p>
          <a:p>
            <a:pPr marL="20320" marR="144145" indent="224790">
              <a:lnSpc>
                <a:spcPts val="1860"/>
              </a:lnSpc>
              <a:spcBef>
                <a:spcPts val="390"/>
              </a:spcBef>
              <a:buSzPct val="88888"/>
              <a:buFont typeface="Tahoma"/>
              <a:buAutoNum type="arabicPeriod"/>
              <a:tabLst>
                <a:tab pos="24511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fraud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transactions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majorly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done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odd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hours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day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i.e.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between</a:t>
            </a:r>
            <a:r>
              <a:rPr sz="1800" u="sng" spc="-4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22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Hr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so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banks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needs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ensure</a:t>
            </a:r>
            <a:r>
              <a:rPr sz="1800" u="sng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send</a:t>
            </a:r>
            <a:r>
              <a:rPr sz="18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sz="1800" u="sng" spc="-3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SMS</a:t>
            </a:r>
            <a:r>
              <a:rPr sz="1800" u="sng" spc="-114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ALERT</a:t>
            </a:r>
            <a:r>
              <a:rPr sz="1800" u="sng" spc="-5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during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such</a:t>
            </a:r>
            <a:r>
              <a:rPr sz="1800" u="sng" spc="-2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odd</a:t>
            </a:r>
            <a:r>
              <a:rPr sz="1800" u="sng" spc="-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hours.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6439" y="131063"/>
            <a:ext cx="7161275" cy="128015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372995" y="319227"/>
            <a:ext cx="6411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Business</a:t>
            </a:r>
            <a:r>
              <a:rPr sz="4400" spc="-10" dirty="0"/>
              <a:t> Recommendation</a:t>
            </a:r>
            <a:endParaRPr sz="4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77973" y="2040763"/>
            <a:ext cx="7571105" cy="212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800" b="0" dirty="0">
                <a:solidFill>
                  <a:srgbClr val="FFFFFF"/>
                </a:solidFill>
                <a:latin typeface="Times New Roman"/>
                <a:cs typeface="Times New Roman"/>
              </a:rPr>
              <a:t>Thank </a:t>
            </a:r>
            <a:r>
              <a:rPr sz="138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13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1597</Words>
  <Application>Microsoft Office PowerPoint</Application>
  <PresentationFormat>Widescreen</PresentationFormat>
  <Paragraphs>185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 MT</vt:lpstr>
      <vt:lpstr>Calibri</vt:lpstr>
      <vt:lpstr>Tahoma</vt:lpstr>
      <vt:lpstr>Times New Roman</vt:lpstr>
      <vt:lpstr>Wingdings</vt:lpstr>
      <vt:lpstr>Office Theme</vt:lpstr>
      <vt:lpstr>PowerPoint Presentation</vt:lpstr>
      <vt:lpstr>AGENDA</vt:lpstr>
      <vt:lpstr>PowerPoint Presentation</vt:lpstr>
      <vt:lpstr>Problem statement</vt:lpstr>
      <vt:lpstr>GOALS</vt:lpstr>
      <vt:lpstr>OVERVIEW OF DATA</vt:lpstr>
      <vt:lpstr>Visual representation of frequency of transactions and fraud_transactions monthly wise</vt:lpstr>
      <vt:lpstr>INSIGHTS</vt:lpstr>
      <vt:lpstr>1.Analysis based on Fraud transactions in different Months</vt:lpstr>
      <vt:lpstr>2. Analysis based on Fraud transactions in Weekdays</vt:lpstr>
      <vt:lpstr>3. Analysis based on Fraud transactions in Days</vt:lpstr>
      <vt:lpstr>4. Analysis based on Fraud transactions in Hours</vt:lpstr>
      <vt:lpstr>5. Analysis based on Fraud transactions in different Age_bins</vt:lpstr>
      <vt:lpstr>6. Analysis based on Fraud transactions in different Categories</vt:lpstr>
      <vt:lpstr>7. Analysis based on Fraud transactions in different Jobs</vt:lpstr>
      <vt:lpstr>8. Analysis based on Fraud transactions in different</vt:lpstr>
      <vt:lpstr>MODELIING</vt:lpstr>
      <vt:lpstr>PREPARE DATA FOR MODELLING</vt:lpstr>
      <vt:lpstr>PowerPoint Presentation</vt:lpstr>
      <vt:lpstr>MODELLING STATS</vt:lpstr>
      <vt:lpstr>Model Reflection</vt:lpstr>
      <vt:lpstr>Cost Benefit Analysis</vt:lpstr>
      <vt:lpstr>Conclusion : Profit predicted after using ML models</vt:lpstr>
      <vt:lpstr>Business Recommendation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nidhi sharma</dc:creator>
  <cp:lastModifiedBy>Syed Ismail</cp:lastModifiedBy>
  <cp:revision>2</cp:revision>
  <dcterms:created xsi:type="dcterms:W3CDTF">2026-07-19T16:27:03Z</dcterms:created>
  <dcterms:modified xsi:type="dcterms:W3CDTF">2026-07-19T17:15:01Z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2021-01-11T00:00:00Z</vt:filetime>
  </property>
  <property fmtid="{D5CDD505-2E9C-101B-9397-08002B2CF9AE}" pid="4" name="Creator">
    <vt:lpwstr>Microsoft® PowerPoint® 2013</vt:lpwstr>
  </property>
  <property fmtid="{D5CDD505-2E9C-101B-9397-08002B2CF9AE}" pid="5" name="LastSaved">
    <vt:filetime>2026-07-19T00:00:00Z</vt:filetime>
  </property>
  <property fmtid="{D5CDD505-2E9C-101B-9397-08002B2CF9AE}" pid="6" name="Producer">
    <vt:lpwstr>Microsoft® PowerPoint® 2013</vt:lpwstr>
  </property>
</Properties>
</file>